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b47a21-4c0b-c3c5-6ffb-322e36c16eb0}">
          <p14:sldIdLst>
            <p14:sldId id="256"/>
          </p14:sldIdLst>
        </p14:section>
        <p14:section name="Problem" id="{0ea36707-2a07-b636-184f-08a50f1a54dc}">
          <p14:sldIdLst>
            <p14:sldId id="257"/>
          </p14:sldIdLst>
        </p14:section>
        <p14:section name="Solution" id="{00425399-1d64-2ecc-3170-a3f8a5f1b2f6}">
          <p14:sldIdLst>
            <p14:sldId id="258"/>
            <p14:sldId id="259"/>
            <p14:sldId id="260"/>
          </p14:sldIdLst>
        </p14:section>
        <p14:section name="Results" id="{acbd761b-6219-2a08-2fbe-9c817fce5cd1}">
          <p14:sldIdLst>
            <p14:sldId id="261"/>
            <p14:sldId id="262"/>
          </p14:sldIdLst>
        </p14:section>
        <p14:section name="UI" id="{3e5adc46-ceb8-362c-a6e5-43d9733442c3}">
          <p14:sldIdLst>
            <p14:sldId id="263"/>
          </p14:sldIdLst>
        </p14:section>
        <p14:section name="Limitations" id="{4ae5b0b0-b284-02ef-2568-c0505c68ff89}">
          <p14:sldIdLst>
            <p14:sldId id="264"/>
          </p14:sldIdLst>
        </p14:section>
        <p14:section name="Conclusion" id="{f85131a3-2c7d-5d19-527f-27626adffa89}">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Metis RealityGraph is an evidence-first production incident reconstruction tool built for the Google Cloud AI Builder Cup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incident evidence comes from multiple sources: source control, deployment records, runtime telemetry. These can be incomplete, delayed, or contradictory. R2Act (Microsoft Research, arXiv 2607.04623) shows recovery-oriented methods pick invalid actions 39.5-62%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Five-step pipeline: Evidence ledger collects records with source, event time, and ingest time. Reconciliation determines what was live at incident time. Contradiction detection flags disagreements. Gemini investigator uses structured JSON with uncertainty. Admissibility check rejects unsupported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Gemini 3.8 Flash for investigation with prompt v2 (JSON-escaped, non-forgeable). FastAPI + Pydantic for typed API. Deterministic reconciler for temporal state. Deployed on Cloud Run asia-south1. Key decisions: untrusted evidence text, DAG-aware history, abstention support, M3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Results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Investigation benchmark: 16 synthetic scenarios, Gemini 3.8 Flash. Zero wrong attributions or fabricated citations across all 96 runs. With reconciliation: 24/24 correct cause identification, 0 missed answers (down from 5 with raw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R2Act recovery-action validity. Naive always-rollback: 43.8% invalid (within R2Act range). Metis with reconciled state: 0% invalid. 32/32 valid across all v2 scenarios. The validity check is deterministic and state-only.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Design 3 interface. M3 tonal color system, Google Sans typography, interactive composer for custom incidents, 4 built-in scenarios, time travel feature, and three Gemini investigation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We wrote the scenarios. Small sample. Admissibility check never fired on real output. Well-prompted Gemini already did well. Synthetic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Temporal reconciliation eliminates missed answers. State-aware recovery achieves 0% invalid actions. Evidence-first approach with Gemini. All claims defensible and limitations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4206240"/>
            <a:ext cx="9144000" cy="937260"/>
          </a:xfrm>
          <a:prstGeom prst="rect">
            <a:avLst/>
          </a:prstGeom>
          <a:solidFill>
            <a:srgbClr val="1A73E8"/>
          </a:solidFill>
          <a:ln/>
        </p:spPr>
      </p:sp>
      <p:sp>
        <p:nvSpPr>
          <p:cNvPr id="3" name="Text 1"/>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dirty="0">
                <a:solidFill>
                  <a:srgbClr val="000000"/>
                </a:solidFill>
              </a:rPr>
              <a:t>[object Object]</a:t>
            </a:r>
            <a:endParaRPr lang="en-US" dirty="0"/>
          </a:p>
        </p:txBody>
      </p:sp>
      <p:sp>
        <p:nvSpPr>
          <p:cNvPr id="25" name="Slide Number Placeholder 0"/>
          <p:cNvSpPr>
            <a:spLocks noGrp="1"/>
          </p:cNvSpPr>
          <p:nvPr>
            <p:ph type="sldNum" sz="quarter" idx="4294967295"/>
          </p:nvPr>
        </p:nvSpPr>
        <p:spPr>
          <a:xfrm>
            <a:off x="8412480" y="475488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A73E8"/>
          </a:solidFill>
          <a:ln/>
        </p:spPr>
      </p:sp>
      <p:sp>
        <p:nvSpPr>
          <p:cNvPr id="3" name="Text 1"/>
          <p:cNvSpPr txBox="1"/>
          <p:nvPr/>
        </p:nvSpPr>
        <p:spPr>
          <a:xfrm>
            <a:off x="548640" y="4709160"/>
            <a:ext cx="3657600" cy="274320"/>
          </a:xfrm>
          <a:prstGeom prst="rect">
            <a:avLst/>
          </a:prstGeom>
          <a:noFill/>
          <a:ln/>
        </p:spPr>
        <p:txBody>
          <a:bodyPr wrap="square" lIns="0" tIns="0" rIns="0" bIns="0" rtlCol="0" anchor="ctr"/>
          <a:lstStyle/>
          <a:p>
            <a:pPr indent="0" marL="0">
              <a:buNone/>
            </a:pPr>
            <a:r>
              <a:rPr lang="en-US" dirty="0">
                <a:solidFill>
                  <a:srgbClr val="000000"/>
                </a:solidFill>
              </a:rPr>
              <a:t>[object Object]</a:t>
            </a:r>
            <a:endParaRPr lang="en-US"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A73E8"/>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A73E8"/>
          </a:solidFill>
          <a:ln/>
        </p:spPr>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97280"/>
          </a:xfrm>
          <a:prstGeom prst="rect">
            <a:avLst/>
          </a:prstGeom>
          <a:noFill/>
          <a:ln/>
        </p:spPr>
        <p:txBody>
          <a:bodyPr wrap="square" lIns="0" tIns="0" rIns="0" bIns="0" rtlCol="0" anchor="ctr"/>
          <a:lstStyle/>
          <a:p>
            <a:pPr indent="0" marL="0">
              <a:buNone/>
            </a:pPr>
            <a:r>
              <a:rPr lang="en-US" sz="5200" b="1" dirty="0">
                <a:solidFill>
                  <a:srgbClr val="FFFFFF"/>
                </a:solidFill>
              </a:rPr>
              <a:t>Metis</a:t>
            </a:r>
            <a:pPr indent="0" marL="0">
              <a:buNone/>
            </a:pPr>
            <a:r>
              <a:rPr lang="en-US" sz="5200" dirty="0">
                <a:solidFill>
                  <a:srgbClr val="A8C7FA"/>
                </a:solidFill>
              </a:rPr>
              <a:t> RealityGraph</a:t>
            </a:r>
            <a:endParaRPr lang="en-US" sz="52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DADCE0"/>
                </a:solidFill>
              </a:rPr>
              <a:t>Evidence-first production incident reconstruction</a:t>
            </a:r>
            <a:endParaRPr lang="en-US" sz="2000" dirty="0"/>
          </a:p>
        </p:txBody>
      </p:sp>
      <p:sp>
        <p:nvSpPr>
          <p:cNvPr id="4" name="Text 2"/>
          <p:cNvSpPr txBox="1"/>
          <p:nvPr/>
        </p:nvSpPr>
        <p:spPr>
          <a:xfrm>
            <a:off x="548640" y="2926080"/>
            <a:ext cx="8046720" cy="365760"/>
          </a:xfrm>
          <a:prstGeom prst="rect">
            <a:avLst/>
          </a:prstGeom>
          <a:noFill/>
          <a:ln/>
        </p:spPr>
        <p:txBody>
          <a:bodyPr wrap="square" lIns="0" tIns="0" rIns="0" bIns="0" rtlCol="0" anchor="ctr"/>
          <a:lstStyle/>
          <a:p>
            <a:pPr indent="0" marL="0">
              <a:buNone/>
            </a:pPr>
            <a:r>
              <a:rPr lang="en-US" sz="1400" dirty="0">
                <a:solidFill>
                  <a:srgbClr val="9AA0A6"/>
                </a:solidFill>
              </a:rPr>
              <a:t>Team Metis  |  Future of Work &amp; Enterprise Productivity</a:t>
            </a:r>
            <a:endParaRPr lang="en-US" sz="1400" dirty="0"/>
          </a:p>
        </p:txBody>
      </p:sp>
      <p:sp>
        <p:nvSpPr>
          <p:cNvPr id="25" name="Slide Number Placeholder 0"/>
          <p:cNvSpPr>
            <a:spLocks noGrp="1"/>
          </p:cNvSpPr>
          <p:nvPr>
            <p:ph type="sldNum" sz="quarter" idx="4294967295"/>
          </p:nvPr>
        </p:nvSpPr>
        <p:spPr>
          <a:xfrm>
            <a:off x="8412480" y="475488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The Problem</a:t>
            </a:r>
            <a:endParaRPr lang="en-US" sz="3600" dirty="0"/>
          </a:p>
        </p:txBody>
      </p:sp>
      <p:sp>
        <p:nvSpPr>
          <p:cNvPr id="3" name="Text 1"/>
          <p:cNvSpPr txBox="1"/>
          <p:nvPr/>
        </p:nvSpPr>
        <p:spPr>
          <a:xfrm>
            <a:off x="548640" y="914400"/>
            <a:ext cx="8046720" cy="457200"/>
          </a:xfrm>
          <a:prstGeom prst="rect">
            <a:avLst/>
          </a:prstGeom>
          <a:noFill/>
          <a:ln/>
        </p:spPr>
        <p:txBody>
          <a:bodyPr wrap="square" lIns="0" tIns="0" rIns="0" bIns="0" rtlCol="0" anchor="ctr"/>
          <a:lstStyle/>
          <a:p>
            <a:pPr indent="0" marL="0">
              <a:buNone/>
            </a:pPr>
            <a:r>
              <a:rPr lang="en-US" sz="1600" dirty="0">
                <a:solidFill>
                  <a:srgbClr val="5F6368"/>
                </a:solidFill>
              </a:rPr>
              <a:t>During production incidents, evidence is incomplete, delayed, or contradictory</a:t>
            </a:r>
            <a:endParaRPr lang="en-US" sz="1600" dirty="0"/>
          </a:p>
        </p:txBody>
      </p:sp>
      <p:sp>
        <p:nvSpPr>
          <p:cNvPr id="4" name="Shape 2"/>
          <p:cNvSpPr/>
          <p:nvPr/>
        </p:nvSpPr>
        <p:spPr>
          <a:xfrm>
            <a:off x="548640" y="1645920"/>
            <a:ext cx="2560320" cy="2194560"/>
          </a:xfrm>
          <a:prstGeom prst="roundRect">
            <a:avLst>
              <a:gd name="adj" fmla="val 6250"/>
            </a:avLst>
          </a:prstGeom>
          <a:solidFill>
            <a:srgbClr val="F1F3F4"/>
          </a:solidFill>
          <a:ln/>
          <a:effectLst>
            <a:outerShdw sx="100000" sy="100000" kx="0" ky="0" algn="bl" rotWithShape="0" blurRad="76200" dist="25400" dir="16200000">
              <a:srgbClr val="000000">
                <a:alpha val="10000"/>
              </a:srgbClr>
            </a:outerShdw>
          </a:effectLst>
        </p:spPr>
      </p:sp>
      <p:sp>
        <p:nvSpPr>
          <p:cNvPr id="5" name="Shape 3"/>
          <p:cNvSpPr/>
          <p:nvPr/>
        </p:nvSpPr>
        <p:spPr>
          <a:xfrm>
            <a:off x="1371600" y="1828800"/>
            <a:ext cx="914400" cy="914400"/>
          </a:xfrm>
          <a:prstGeom prst="ellipse">
            <a:avLst/>
          </a:prstGeom>
          <a:solidFill>
            <a:srgbClr val="D93025"/>
          </a:solidFill>
          <a:ln/>
        </p:spPr>
      </p:sp>
      <p:sp>
        <p:nvSpPr>
          <p:cNvPr id="6" name="Text 4"/>
          <p:cNvSpPr txBox="1"/>
          <p:nvPr/>
        </p:nvSpPr>
        <p:spPr>
          <a:xfrm>
            <a:off x="137160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rPr>
              <a:t>?</a:t>
            </a:r>
            <a:endParaRPr lang="en-US" sz="2800" dirty="0"/>
          </a:p>
        </p:txBody>
      </p:sp>
      <p:sp>
        <p:nvSpPr>
          <p:cNvPr id="7" name="Text 5"/>
          <p:cNvSpPr txBox="1"/>
          <p:nvPr/>
        </p:nvSpPr>
        <p:spPr>
          <a:xfrm>
            <a:off x="685800" y="2834640"/>
            <a:ext cx="2286000" cy="365760"/>
          </a:xfrm>
          <a:prstGeom prst="rect">
            <a:avLst/>
          </a:prstGeom>
          <a:noFill/>
          <a:ln/>
        </p:spPr>
        <p:txBody>
          <a:bodyPr wrap="square" lIns="0" tIns="0" rIns="0" bIns="0" rtlCol="0" anchor="ctr"/>
          <a:lstStyle/>
          <a:p>
            <a:pPr algn="ctr" indent="0" marL="0">
              <a:buNone/>
            </a:pPr>
            <a:r>
              <a:rPr lang="en-US" sz="1500" b="1" dirty="0">
                <a:solidFill>
                  <a:srgbClr val="202124"/>
                </a:solidFill>
              </a:rPr>
              <a:t>Missing Evidence</a:t>
            </a:r>
            <a:endParaRPr lang="en-US" sz="1500" dirty="0"/>
          </a:p>
        </p:txBody>
      </p:sp>
      <p:sp>
        <p:nvSpPr>
          <p:cNvPr id="8" name="Text 6"/>
          <p:cNvSpPr txBox="1"/>
          <p:nvPr/>
        </p:nvSpPr>
        <p:spPr>
          <a:xfrm>
            <a:off x="685800" y="3200400"/>
            <a:ext cx="2286000" cy="457200"/>
          </a:xfrm>
          <a:prstGeom prst="rect">
            <a:avLst/>
          </a:prstGeom>
          <a:noFill/>
          <a:ln/>
        </p:spPr>
        <p:txBody>
          <a:bodyPr wrap="square" lIns="0" tIns="0" rIns="0" bIns="0" rtlCol="0" anchor="ctr"/>
          <a:lstStyle/>
          <a:p>
            <a:pPr algn="ctr" indent="0" marL="0">
              <a:buNone/>
            </a:pPr>
            <a:r>
              <a:rPr lang="en-US" sz="1200" dirty="0">
                <a:solidFill>
                  <a:srgbClr val="5F6368"/>
                </a:solidFill>
              </a:rPr>
              <a:t>Deploy records arrive late, build logs are incomplete</a:t>
            </a:r>
            <a:endParaRPr lang="en-US" sz="1200" dirty="0"/>
          </a:p>
        </p:txBody>
      </p:sp>
      <p:sp>
        <p:nvSpPr>
          <p:cNvPr id="9" name="Shape 7"/>
          <p:cNvSpPr/>
          <p:nvPr/>
        </p:nvSpPr>
        <p:spPr>
          <a:xfrm>
            <a:off x="3383280" y="1645920"/>
            <a:ext cx="2560320" cy="2194560"/>
          </a:xfrm>
          <a:prstGeom prst="roundRect">
            <a:avLst>
              <a:gd name="adj" fmla="val 6250"/>
            </a:avLst>
          </a:prstGeom>
          <a:solidFill>
            <a:srgbClr val="F1F3F4"/>
          </a:solidFill>
          <a:ln/>
          <a:effectLst>
            <a:outerShdw sx="100000" sy="100000" kx="0" ky="0" algn="bl" rotWithShape="0" blurRad="76200" dist="25400" dir="16200000">
              <a:srgbClr val="000000">
                <a:alpha val="10000"/>
              </a:srgbClr>
            </a:outerShdw>
          </a:effectLst>
        </p:spPr>
      </p:sp>
      <p:sp>
        <p:nvSpPr>
          <p:cNvPr id="10" name="Shape 8"/>
          <p:cNvSpPr/>
          <p:nvPr/>
        </p:nvSpPr>
        <p:spPr>
          <a:xfrm>
            <a:off x="4206240" y="1828800"/>
            <a:ext cx="914400" cy="914400"/>
          </a:xfrm>
          <a:prstGeom prst="ellipse">
            <a:avLst/>
          </a:prstGeom>
          <a:solidFill>
            <a:srgbClr val="D93025"/>
          </a:solidFill>
          <a:ln/>
        </p:spPr>
      </p:sp>
      <p:sp>
        <p:nvSpPr>
          <p:cNvPr id="11" name="Text 9"/>
          <p:cNvSpPr txBox="1"/>
          <p:nvPr/>
        </p:nvSpPr>
        <p:spPr>
          <a:xfrm>
            <a:off x="420624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rPr>
              <a:t>!</a:t>
            </a:r>
            <a:endParaRPr lang="en-US" sz="2800" dirty="0"/>
          </a:p>
        </p:txBody>
      </p:sp>
      <p:sp>
        <p:nvSpPr>
          <p:cNvPr id="12" name="Text 10"/>
          <p:cNvSpPr txBox="1"/>
          <p:nvPr/>
        </p:nvSpPr>
        <p:spPr>
          <a:xfrm>
            <a:off x="3520440" y="2834640"/>
            <a:ext cx="2286000" cy="365760"/>
          </a:xfrm>
          <a:prstGeom prst="rect">
            <a:avLst/>
          </a:prstGeom>
          <a:noFill/>
          <a:ln/>
        </p:spPr>
        <p:txBody>
          <a:bodyPr wrap="square" lIns="0" tIns="0" rIns="0" bIns="0" rtlCol="0" anchor="ctr"/>
          <a:lstStyle/>
          <a:p>
            <a:pPr algn="ctr" indent="0" marL="0">
              <a:buNone/>
            </a:pPr>
            <a:r>
              <a:rPr lang="en-US" sz="1500" b="1" dirty="0">
                <a:solidFill>
                  <a:srgbClr val="202124"/>
                </a:solidFill>
              </a:rPr>
              <a:t>Contradictions</a:t>
            </a:r>
            <a:endParaRPr lang="en-US" sz="1500" dirty="0"/>
          </a:p>
        </p:txBody>
      </p:sp>
      <p:sp>
        <p:nvSpPr>
          <p:cNvPr id="13" name="Text 11"/>
          <p:cNvSpPr txBox="1"/>
          <p:nvPr/>
        </p:nvSpPr>
        <p:spPr>
          <a:xfrm>
            <a:off x="3520440" y="3200400"/>
            <a:ext cx="2286000" cy="457200"/>
          </a:xfrm>
          <a:prstGeom prst="rect">
            <a:avLst/>
          </a:prstGeom>
          <a:noFill/>
          <a:ln/>
        </p:spPr>
        <p:txBody>
          <a:bodyPr wrap="square" lIns="0" tIns="0" rIns="0" bIns="0" rtlCol="0" anchor="ctr"/>
          <a:lstStyle/>
          <a:p>
            <a:pPr algn="ctr" indent="0" marL="0">
              <a:buNone/>
            </a:pPr>
            <a:r>
              <a:rPr lang="en-US" sz="1200" dirty="0">
                <a:solidFill>
                  <a:srgbClr val="5F6368"/>
                </a:solidFill>
              </a:rPr>
              <a:t>Runtime says version A, deploy log says version B</a:t>
            </a:r>
            <a:endParaRPr lang="en-US" sz="1200" dirty="0"/>
          </a:p>
        </p:txBody>
      </p:sp>
      <p:sp>
        <p:nvSpPr>
          <p:cNvPr id="14" name="Shape 12"/>
          <p:cNvSpPr/>
          <p:nvPr/>
        </p:nvSpPr>
        <p:spPr>
          <a:xfrm>
            <a:off x="6217920" y="1645920"/>
            <a:ext cx="2560320" cy="2194560"/>
          </a:xfrm>
          <a:prstGeom prst="roundRect">
            <a:avLst>
              <a:gd name="adj" fmla="val 6250"/>
            </a:avLst>
          </a:prstGeom>
          <a:solidFill>
            <a:srgbClr val="F1F3F4"/>
          </a:solidFill>
          <a:ln/>
          <a:effectLst>
            <a:outerShdw sx="100000" sy="100000" kx="0" ky="0" algn="bl" rotWithShape="0" blurRad="76200" dist="25400" dir="16200000">
              <a:srgbClr val="000000">
                <a:alpha val="10000"/>
              </a:srgbClr>
            </a:outerShdw>
          </a:effectLst>
        </p:spPr>
      </p:sp>
      <p:sp>
        <p:nvSpPr>
          <p:cNvPr id="15" name="Shape 13"/>
          <p:cNvSpPr/>
          <p:nvPr/>
        </p:nvSpPr>
        <p:spPr>
          <a:xfrm>
            <a:off x="7040880" y="1828800"/>
            <a:ext cx="914400" cy="914400"/>
          </a:xfrm>
          <a:prstGeom prst="ellipse">
            <a:avLst/>
          </a:prstGeom>
          <a:solidFill>
            <a:srgbClr val="D93025"/>
          </a:solidFill>
          <a:ln/>
        </p:spPr>
      </p:sp>
      <p:sp>
        <p:nvSpPr>
          <p:cNvPr id="16" name="Text 14"/>
          <p:cNvSpPr txBox="1"/>
          <p:nvPr/>
        </p:nvSpPr>
        <p:spPr>
          <a:xfrm>
            <a:off x="7040880" y="1828800"/>
            <a:ext cx="914400" cy="914400"/>
          </a:xfrm>
          <a:prstGeom prst="rect">
            <a:avLst/>
          </a:prstGeom>
          <a:noFill/>
          <a:ln/>
        </p:spPr>
        <p:txBody>
          <a:bodyPr wrap="square" lIns="0" tIns="0" rIns="0" bIns="0" rtlCol="0" anchor="ctr"/>
          <a:lstStyle/>
          <a:p>
            <a:pPr algn="ctr" indent="0" marL="0">
              <a:buNone/>
            </a:pPr>
            <a:r>
              <a:rPr lang="en-US" sz="2800" b="1" dirty="0">
                <a:solidFill>
                  <a:srgbClr val="FFFFFF"/>
                </a:solidFill>
              </a:rPr>
              <a:t>X</a:t>
            </a:r>
            <a:endParaRPr lang="en-US" sz="2800" dirty="0"/>
          </a:p>
        </p:txBody>
      </p:sp>
      <p:sp>
        <p:nvSpPr>
          <p:cNvPr id="17" name="Text 15"/>
          <p:cNvSpPr txBox="1"/>
          <p:nvPr/>
        </p:nvSpPr>
        <p:spPr>
          <a:xfrm>
            <a:off x="6355080" y="2834640"/>
            <a:ext cx="2286000" cy="365760"/>
          </a:xfrm>
          <a:prstGeom prst="rect">
            <a:avLst/>
          </a:prstGeom>
          <a:noFill/>
          <a:ln/>
        </p:spPr>
        <p:txBody>
          <a:bodyPr wrap="square" lIns="0" tIns="0" rIns="0" bIns="0" rtlCol="0" anchor="ctr"/>
          <a:lstStyle/>
          <a:p>
            <a:pPr algn="ctr" indent="0" marL="0">
              <a:buNone/>
            </a:pPr>
            <a:r>
              <a:rPr lang="en-US" sz="1500" b="1" dirty="0">
                <a:solidFill>
                  <a:srgbClr val="202124"/>
                </a:solidFill>
              </a:rPr>
              <a:t>Wrong Conclusions</a:t>
            </a:r>
            <a:endParaRPr lang="en-US" sz="1500" dirty="0"/>
          </a:p>
        </p:txBody>
      </p:sp>
      <p:sp>
        <p:nvSpPr>
          <p:cNvPr id="18" name="Text 16"/>
          <p:cNvSpPr txBox="1"/>
          <p:nvPr/>
        </p:nvSpPr>
        <p:spPr>
          <a:xfrm>
            <a:off x="6355080" y="3200400"/>
            <a:ext cx="2286000" cy="457200"/>
          </a:xfrm>
          <a:prstGeom prst="rect">
            <a:avLst/>
          </a:prstGeom>
          <a:noFill/>
          <a:ln/>
        </p:spPr>
        <p:txBody>
          <a:bodyPr wrap="square" lIns="0" tIns="0" rIns="0" bIns="0" rtlCol="0" anchor="ctr"/>
          <a:lstStyle/>
          <a:p>
            <a:pPr algn="ctr" indent="0" marL="0">
              <a:buNone/>
            </a:pPr>
            <a:r>
              <a:rPr lang="en-US" sz="1200" dirty="0">
                <a:solidFill>
                  <a:srgbClr val="5F6368"/>
                </a:solidFill>
              </a:rPr>
              <a:t>Diagnosis blames a change that wasn't actually running</a:t>
            </a:r>
            <a:endParaRPr lang="en-US" sz="1200" dirty="0"/>
          </a:p>
        </p:txBody>
      </p:sp>
      <p:sp>
        <p:nvSpPr>
          <p:cNvPr id="19" name="Shape 17"/>
          <p:cNvSpPr/>
          <p:nvPr/>
        </p:nvSpPr>
        <p:spPr>
          <a:xfrm>
            <a:off x="548640" y="4023360"/>
            <a:ext cx="8046720" cy="548640"/>
          </a:xfrm>
          <a:prstGeom prst="roundRect">
            <a:avLst>
              <a:gd name="adj" fmla="val 16667"/>
            </a:avLst>
          </a:prstGeom>
          <a:solidFill>
            <a:srgbClr val="E8F0FE"/>
          </a:solidFill>
          <a:ln/>
        </p:spPr>
      </p:sp>
      <p:sp>
        <p:nvSpPr>
          <p:cNvPr id="20" name="Text 18"/>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200" b="1" dirty="0">
                <a:solidFill>
                  <a:srgbClr val="202124"/>
                </a:solidFill>
              </a:rPr>
              <a:t>R2Act benchmark (Microsoft Research): </a:t>
            </a:r>
            <a:pPr indent="0" marL="0">
              <a:buNone/>
            </a:pPr>
            <a:r>
              <a:rPr lang="en-US" sz="1200" b="1" dirty="0">
                <a:solidFill>
                  <a:srgbClr val="D93025"/>
                </a:solidFill>
              </a:rPr>
              <a:t>39.5% to 62% of correctly diagnosed incidents still get invalid recovery actions</a:t>
            </a:r>
            <a:endParaRPr lang="en-US" sz="12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Our Solution</a:t>
            </a:r>
            <a:endParaRPr lang="en-US" sz="3600" dirty="0"/>
          </a:p>
        </p:txBody>
      </p:sp>
      <p:sp>
        <p:nvSpPr>
          <p:cNvPr id="3" name="Text 1"/>
          <p:cNvSpPr txBox="1"/>
          <p:nvPr/>
        </p:nvSpPr>
        <p:spPr>
          <a:xfrm>
            <a:off x="548640" y="914400"/>
            <a:ext cx="8046720" cy="457200"/>
          </a:xfrm>
          <a:prstGeom prst="rect">
            <a:avLst/>
          </a:prstGeom>
          <a:noFill/>
          <a:ln/>
        </p:spPr>
        <p:txBody>
          <a:bodyPr wrap="square" lIns="0" tIns="0" rIns="0" bIns="0" rtlCol="0" anchor="ctr"/>
          <a:lstStyle/>
          <a:p>
            <a:pPr indent="0" marL="0">
              <a:buNone/>
            </a:pPr>
            <a:r>
              <a:rPr lang="en-US" sz="1600" dirty="0">
                <a:solidFill>
                  <a:srgbClr val="5F6368"/>
                </a:solidFill>
              </a:rPr>
              <a:t>A temporal evidence engine that reconstructs what was actually running at incident time</a:t>
            </a:r>
            <a:endParaRPr lang="en-US" sz="1600" dirty="0"/>
          </a:p>
        </p:txBody>
      </p:sp>
      <p:sp>
        <p:nvSpPr>
          <p:cNvPr id="4" name="Shape 2"/>
          <p:cNvSpPr/>
          <p:nvPr/>
        </p:nvSpPr>
        <p:spPr>
          <a:xfrm>
            <a:off x="548640" y="1554480"/>
            <a:ext cx="457200" cy="457200"/>
          </a:xfrm>
          <a:prstGeom prst="ellipse">
            <a:avLst/>
          </a:prstGeom>
          <a:solidFill>
            <a:srgbClr val="1A73E8"/>
          </a:solidFill>
          <a:ln/>
        </p:spPr>
      </p:sp>
      <p:sp>
        <p:nvSpPr>
          <p:cNvPr id="5" name="Text 3"/>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188720" y="1554480"/>
            <a:ext cx="1371600" cy="457200"/>
          </a:xfrm>
          <a:prstGeom prst="rect">
            <a:avLst/>
          </a:prstGeom>
          <a:noFill/>
          <a:ln/>
        </p:spPr>
        <p:txBody>
          <a:bodyPr wrap="square" lIns="0" tIns="0" rIns="0" bIns="0" rtlCol="0" anchor="ctr"/>
          <a:lstStyle/>
          <a:p>
            <a:pPr indent="0" marL="0">
              <a:buNone/>
            </a:pPr>
            <a:r>
              <a:rPr lang="en-US" sz="1600" b="1" dirty="0">
                <a:solidFill>
                  <a:srgbClr val="202124"/>
                </a:solidFill>
              </a:rPr>
              <a:t>Collect</a:t>
            </a:r>
            <a:endParaRPr lang="en-US" sz="1600" dirty="0"/>
          </a:p>
        </p:txBody>
      </p:sp>
      <p:sp>
        <p:nvSpPr>
          <p:cNvPr id="7" name="Text 5"/>
          <p:cNvSpPr txBox="1"/>
          <p:nvPr/>
        </p:nvSpPr>
        <p:spPr>
          <a:xfrm>
            <a:off x="2560320" y="1554480"/>
            <a:ext cx="6035040" cy="457200"/>
          </a:xfrm>
          <a:prstGeom prst="rect">
            <a:avLst/>
          </a:prstGeom>
          <a:noFill/>
          <a:ln/>
        </p:spPr>
        <p:txBody>
          <a:bodyPr wrap="square" lIns="0" tIns="0" rIns="0" bIns="0" rtlCol="0" anchor="ctr"/>
          <a:lstStyle/>
          <a:p>
            <a:pPr indent="0" marL="0">
              <a:buNone/>
            </a:pPr>
            <a:r>
              <a:rPr lang="en-US" sz="1400" dirty="0">
                <a:solidFill>
                  <a:srgbClr val="5F6368"/>
                </a:solidFill>
              </a:rPr>
              <a:t>Ingest commit, build, deploy, runtime records with timestamps</a:t>
            </a:r>
            <a:endParaRPr lang="en-US" sz="1400" dirty="0"/>
          </a:p>
        </p:txBody>
      </p:sp>
      <p:sp>
        <p:nvSpPr>
          <p:cNvPr id="8" name="Shape 6"/>
          <p:cNvSpPr/>
          <p:nvPr/>
        </p:nvSpPr>
        <p:spPr>
          <a:xfrm>
            <a:off x="777240" y="2011680"/>
            <a:ext cx="0" cy="182880"/>
          </a:xfrm>
          <a:prstGeom prst="line">
            <a:avLst/>
          </a:prstGeom>
          <a:noFill/>
          <a:ln w="25400">
            <a:solidFill>
              <a:srgbClr val="DADCE0"/>
            </a:solidFill>
            <a:prstDash val="solid"/>
          </a:ln>
        </p:spPr>
      </p:sp>
      <p:sp>
        <p:nvSpPr>
          <p:cNvPr id="9" name="Shape 7"/>
          <p:cNvSpPr/>
          <p:nvPr/>
        </p:nvSpPr>
        <p:spPr>
          <a:xfrm>
            <a:off x="548640" y="2194560"/>
            <a:ext cx="457200" cy="457200"/>
          </a:xfrm>
          <a:prstGeom prst="ellipse">
            <a:avLst/>
          </a:prstGeom>
          <a:solidFill>
            <a:srgbClr val="1A73E8"/>
          </a:solidFill>
          <a:ln/>
        </p:spPr>
      </p:sp>
      <p:sp>
        <p:nvSpPr>
          <p:cNvPr id="10" name="Text 8"/>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1188720" y="2194560"/>
            <a:ext cx="1371600" cy="457200"/>
          </a:xfrm>
          <a:prstGeom prst="rect">
            <a:avLst/>
          </a:prstGeom>
          <a:noFill/>
          <a:ln/>
        </p:spPr>
        <p:txBody>
          <a:bodyPr wrap="square" lIns="0" tIns="0" rIns="0" bIns="0" rtlCol="0" anchor="ctr"/>
          <a:lstStyle/>
          <a:p>
            <a:pPr indent="0" marL="0">
              <a:buNone/>
            </a:pPr>
            <a:r>
              <a:rPr lang="en-US" sz="1600" b="1" dirty="0">
                <a:solidFill>
                  <a:srgbClr val="202124"/>
                </a:solidFill>
              </a:rPr>
              <a:t>Reconcile</a:t>
            </a:r>
            <a:endParaRPr lang="en-US" sz="1600" dirty="0"/>
          </a:p>
        </p:txBody>
      </p:sp>
      <p:sp>
        <p:nvSpPr>
          <p:cNvPr id="12" name="Text 10"/>
          <p:cNvSpPr txBox="1"/>
          <p:nvPr/>
        </p:nvSpPr>
        <p:spPr>
          <a:xfrm>
            <a:off x="2560320" y="2194560"/>
            <a:ext cx="6035040" cy="457200"/>
          </a:xfrm>
          <a:prstGeom prst="rect">
            <a:avLst/>
          </a:prstGeom>
          <a:noFill/>
          <a:ln/>
        </p:spPr>
        <p:txBody>
          <a:bodyPr wrap="square" lIns="0" tIns="0" rIns="0" bIns="0" rtlCol="0" anchor="ctr"/>
          <a:lstStyle/>
          <a:p>
            <a:pPr indent="0" marL="0">
              <a:buNone/>
            </a:pPr>
            <a:r>
              <a:rPr lang="en-US" sz="1400" dirty="0">
                <a:solidFill>
                  <a:srgbClr val="5F6368"/>
                </a:solidFill>
              </a:rPr>
              <a:t>Deterministic temporal reconciliation of all evidence sources</a:t>
            </a:r>
            <a:endParaRPr lang="en-US" sz="1400" dirty="0"/>
          </a:p>
        </p:txBody>
      </p:sp>
      <p:sp>
        <p:nvSpPr>
          <p:cNvPr id="13" name="Shape 11"/>
          <p:cNvSpPr/>
          <p:nvPr/>
        </p:nvSpPr>
        <p:spPr>
          <a:xfrm>
            <a:off x="777240" y="2651760"/>
            <a:ext cx="0" cy="182880"/>
          </a:xfrm>
          <a:prstGeom prst="line">
            <a:avLst/>
          </a:prstGeom>
          <a:noFill/>
          <a:ln w="25400">
            <a:solidFill>
              <a:srgbClr val="DADCE0"/>
            </a:solidFill>
            <a:prstDash val="solid"/>
          </a:ln>
        </p:spPr>
      </p:sp>
      <p:sp>
        <p:nvSpPr>
          <p:cNvPr id="14" name="Shape 12"/>
          <p:cNvSpPr/>
          <p:nvPr/>
        </p:nvSpPr>
        <p:spPr>
          <a:xfrm>
            <a:off x="548640" y="2834640"/>
            <a:ext cx="457200" cy="457200"/>
          </a:xfrm>
          <a:prstGeom prst="ellipse">
            <a:avLst/>
          </a:prstGeom>
          <a:solidFill>
            <a:srgbClr val="1A73E8"/>
          </a:solidFill>
          <a:ln/>
        </p:spPr>
      </p:sp>
      <p:sp>
        <p:nvSpPr>
          <p:cNvPr id="15" name="Text 13"/>
          <p:cNvSpPr txBox="1"/>
          <p:nvPr/>
        </p:nvSpPr>
        <p:spPr>
          <a:xfrm>
            <a:off x="548640" y="2834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188720" y="2834640"/>
            <a:ext cx="1371600" cy="457200"/>
          </a:xfrm>
          <a:prstGeom prst="rect">
            <a:avLst/>
          </a:prstGeom>
          <a:noFill/>
          <a:ln/>
        </p:spPr>
        <p:txBody>
          <a:bodyPr wrap="square" lIns="0" tIns="0" rIns="0" bIns="0" rtlCol="0" anchor="ctr"/>
          <a:lstStyle/>
          <a:p>
            <a:pPr indent="0" marL="0">
              <a:buNone/>
            </a:pPr>
            <a:r>
              <a:rPr lang="en-US" sz="1600" b="1" dirty="0">
                <a:solidFill>
                  <a:srgbClr val="202124"/>
                </a:solidFill>
              </a:rPr>
              <a:t>Detect</a:t>
            </a:r>
            <a:endParaRPr lang="en-US" sz="1600" dirty="0"/>
          </a:p>
        </p:txBody>
      </p:sp>
      <p:sp>
        <p:nvSpPr>
          <p:cNvPr id="17" name="Text 15"/>
          <p:cNvSpPr txBox="1"/>
          <p:nvPr/>
        </p:nvSpPr>
        <p:spPr>
          <a:xfrm>
            <a:off x="2560320" y="2834640"/>
            <a:ext cx="6035040" cy="457200"/>
          </a:xfrm>
          <a:prstGeom prst="rect">
            <a:avLst/>
          </a:prstGeom>
          <a:noFill/>
          <a:ln/>
        </p:spPr>
        <p:txBody>
          <a:bodyPr wrap="square" lIns="0" tIns="0" rIns="0" bIns="0" rtlCol="0" anchor="ctr"/>
          <a:lstStyle/>
          <a:p>
            <a:pPr indent="0" marL="0">
              <a:buNone/>
            </a:pPr>
            <a:r>
              <a:rPr lang="en-US" sz="1400" dirty="0">
                <a:solidFill>
                  <a:srgbClr val="5F6368"/>
                </a:solidFill>
              </a:rPr>
              <a:t>Flag contradictions, missing evidence, and late-arriving records</a:t>
            </a:r>
            <a:endParaRPr lang="en-US" sz="1400" dirty="0"/>
          </a:p>
        </p:txBody>
      </p:sp>
      <p:sp>
        <p:nvSpPr>
          <p:cNvPr id="18" name="Shape 16"/>
          <p:cNvSpPr/>
          <p:nvPr/>
        </p:nvSpPr>
        <p:spPr>
          <a:xfrm>
            <a:off x="777240" y="3291840"/>
            <a:ext cx="0" cy="182880"/>
          </a:xfrm>
          <a:prstGeom prst="line">
            <a:avLst/>
          </a:prstGeom>
          <a:noFill/>
          <a:ln w="25400">
            <a:solidFill>
              <a:srgbClr val="DADCE0"/>
            </a:solidFill>
            <a:prstDash val="solid"/>
          </a:ln>
        </p:spPr>
      </p:sp>
      <p:sp>
        <p:nvSpPr>
          <p:cNvPr id="19" name="Shape 17"/>
          <p:cNvSpPr/>
          <p:nvPr/>
        </p:nvSpPr>
        <p:spPr>
          <a:xfrm>
            <a:off x="548640" y="3474720"/>
            <a:ext cx="457200" cy="457200"/>
          </a:xfrm>
          <a:prstGeom prst="ellipse">
            <a:avLst/>
          </a:prstGeom>
          <a:solidFill>
            <a:srgbClr val="1A73E8"/>
          </a:solidFill>
          <a:ln/>
        </p:spPr>
      </p:sp>
      <p:sp>
        <p:nvSpPr>
          <p:cNvPr id="20" name="Text 18"/>
          <p:cNvSpPr txBox="1"/>
          <p:nvPr/>
        </p:nvSpPr>
        <p:spPr>
          <a:xfrm>
            <a:off x="54864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1188720" y="3474720"/>
            <a:ext cx="1371600" cy="457200"/>
          </a:xfrm>
          <a:prstGeom prst="rect">
            <a:avLst/>
          </a:prstGeom>
          <a:noFill/>
          <a:ln/>
        </p:spPr>
        <p:txBody>
          <a:bodyPr wrap="square" lIns="0" tIns="0" rIns="0" bIns="0" rtlCol="0" anchor="ctr"/>
          <a:lstStyle/>
          <a:p>
            <a:pPr indent="0" marL="0">
              <a:buNone/>
            </a:pPr>
            <a:r>
              <a:rPr lang="en-US" sz="1600" b="1" dirty="0">
                <a:solidFill>
                  <a:srgbClr val="202124"/>
                </a:solidFill>
              </a:rPr>
              <a:t>Investigate</a:t>
            </a:r>
            <a:endParaRPr lang="en-US" sz="1600" dirty="0"/>
          </a:p>
        </p:txBody>
      </p:sp>
      <p:sp>
        <p:nvSpPr>
          <p:cNvPr id="22" name="Text 20"/>
          <p:cNvSpPr txBox="1"/>
          <p:nvPr/>
        </p:nvSpPr>
        <p:spPr>
          <a:xfrm>
            <a:off x="2560320" y="3474720"/>
            <a:ext cx="6035040" cy="457200"/>
          </a:xfrm>
          <a:prstGeom prst="rect">
            <a:avLst/>
          </a:prstGeom>
          <a:noFill/>
          <a:ln/>
        </p:spPr>
        <p:txBody>
          <a:bodyPr wrap="square" lIns="0" tIns="0" rIns="0" bIns="0" rtlCol="0" anchor="ctr"/>
          <a:lstStyle/>
          <a:p>
            <a:pPr indent="0" marL="0">
              <a:buNone/>
            </a:pPr>
            <a:r>
              <a:rPr lang="en-US" sz="1400" dirty="0">
                <a:solidFill>
                  <a:srgbClr val="5F6368"/>
                </a:solidFill>
              </a:rPr>
              <a:t>Gemini analyzes uncertainty-aware evidence set</a:t>
            </a:r>
            <a:endParaRPr lang="en-US" sz="1400" dirty="0"/>
          </a:p>
        </p:txBody>
      </p:sp>
      <p:sp>
        <p:nvSpPr>
          <p:cNvPr id="23" name="Shape 21"/>
          <p:cNvSpPr/>
          <p:nvPr/>
        </p:nvSpPr>
        <p:spPr>
          <a:xfrm>
            <a:off x="777240" y="3931920"/>
            <a:ext cx="0" cy="182880"/>
          </a:xfrm>
          <a:prstGeom prst="line">
            <a:avLst/>
          </a:prstGeom>
          <a:noFill/>
          <a:ln w="25400">
            <a:solidFill>
              <a:srgbClr val="DADCE0"/>
            </a:solidFill>
            <a:prstDash val="solid"/>
          </a:ln>
        </p:spPr>
      </p:sp>
      <p:sp>
        <p:nvSpPr>
          <p:cNvPr id="24" name="Shape 22"/>
          <p:cNvSpPr/>
          <p:nvPr/>
        </p:nvSpPr>
        <p:spPr>
          <a:xfrm>
            <a:off x="548640" y="4114800"/>
            <a:ext cx="457200" cy="457200"/>
          </a:xfrm>
          <a:prstGeom prst="ellipse">
            <a:avLst/>
          </a:prstGeom>
          <a:solidFill>
            <a:srgbClr val="1A73E8"/>
          </a:solidFill>
          <a:ln/>
        </p:spPr>
      </p:sp>
      <p:sp>
        <p:nvSpPr>
          <p:cNvPr id="25" name="Text 23"/>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Text 24"/>
          <p:cNvSpPr txBox="1"/>
          <p:nvPr/>
        </p:nvSpPr>
        <p:spPr>
          <a:xfrm>
            <a:off x="1188720" y="4114800"/>
            <a:ext cx="1371600" cy="457200"/>
          </a:xfrm>
          <a:prstGeom prst="rect">
            <a:avLst/>
          </a:prstGeom>
          <a:noFill/>
          <a:ln/>
        </p:spPr>
        <p:txBody>
          <a:bodyPr wrap="square" lIns="0" tIns="0" rIns="0" bIns="0" rtlCol="0" anchor="ctr"/>
          <a:lstStyle/>
          <a:p>
            <a:pPr indent="0" marL="0">
              <a:buNone/>
            </a:pPr>
            <a:r>
              <a:rPr lang="en-US" sz="1600" b="1" dirty="0">
                <a:solidFill>
                  <a:srgbClr val="202124"/>
                </a:solidFill>
              </a:rPr>
              <a:t>Validate</a:t>
            </a:r>
            <a:endParaRPr lang="en-US" sz="1600" dirty="0"/>
          </a:p>
        </p:txBody>
      </p:sp>
      <p:sp>
        <p:nvSpPr>
          <p:cNvPr id="27" name="Text 25"/>
          <p:cNvSpPr txBox="1"/>
          <p:nvPr/>
        </p:nvSpPr>
        <p:spPr>
          <a:xfrm>
            <a:off x="2560320" y="4114800"/>
            <a:ext cx="6035040" cy="457200"/>
          </a:xfrm>
          <a:prstGeom prst="rect">
            <a:avLst/>
          </a:prstGeom>
          <a:noFill/>
          <a:ln/>
        </p:spPr>
        <p:txBody>
          <a:bodyPr wrap="square" lIns="0" tIns="0" rIns="0" bIns="0" rtlCol="0" anchor="ctr"/>
          <a:lstStyle/>
          <a:p>
            <a:pPr indent="0" marL="0">
              <a:buNone/>
            </a:pPr>
            <a:r>
              <a:rPr lang="en-US" sz="1400" dirty="0">
                <a:solidFill>
                  <a:srgbClr val="5F6368"/>
                </a:solidFill>
              </a:rPr>
              <a:t>Admissibility check rejects unsupported claims</a:t>
            </a:r>
            <a:endParaRPr lang="en-US" sz="14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Architecture</a:t>
            </a:r>
            <a:endParaRPr lang="en-US" sz="3600" dirty="0"/>
          </a:p>
        </p:txBody>
      </p:sp>
      <p:sp>
        <p:nvSpPr>
          <p:cNvPr id="3" name="Shape 1"/>
          <p:cNvSpPr/>
          <p:nvPr/>
        </p:nvSpPr>
        <p:spPr>
          <a:xfrm>
            <a:off x="548640" y="1097280"/>
            <a:ext cx="3840480" cy="731520"/>
          </a:xfrm>
          <a:prstGeom prst="roundRect">
            <a:avLst>
              <a:gd name="adj" fmla="val 12500"/>
            </a:avLst>
          </a:prstGeom>
          <a:solidFill>
            <a:srgbClr val="FFFFFF"/>
          </a:solidFill>
          <a:ln w="12700">
            <a:solidFill>
              <a:srgbClr val="DADCE0"/>
            </a:solidFill>
            <a:prstDash val="solid"/>
          </a:ln>
          <a:effectLst>
            <a:outerShdw sx="100000" sy="100000" kx="0" ky="0" algn="bl" rotWithShape="0" blurRad="50800" dist="12700" dir="16200000">
              <a:srgbClr val="000000">
                <a:alpha val="8000"/>
              </a:srgbClr>
            </a:outerShdw>
          </a:effectLst>
        </p:spPr>
      </p:sp>
      <p:sp>
        <p:nvSpPr>
          <p:cNvPr id="4" name="Shape 2"/>
          <p:cNvSpPr/>
          <p:nvPr/>
        </p:nvSpPr>
        <p:spPr>
          <a:xfrm>
            <a:off x="731520" y="1280160"/>
            <a:ext cx="365760" cy="365760"/>
          </a:xfrm>
          <a:prstGeom prst="ellipse">
            <a:avLst/>
          </a:prstGeom>
          <a:solidFill>
            <a:srgbClr val="1A73E8"/>
          </a:solidFill>
          <a:ln/>
        </p:spPr>
      </p:sp>
      <p:sp>
        <p:nvSpPr>
          <p:cNvPr id="5" name="Text 3"/>
          <p:cNvSpPr txBox="1"/>
          <p:nvPr/>
        </p:nvSpPr>
        <p:spPr>
          <a:xfrm>
            <a:off x="1280160" y="1143000"/>
            <a:ext cx="2926080" cy="365760"/>
          </a:xfrm>
          <a:prstGeom prst="rect">
            <a:avLst/>
          </a:prstGeom>
          <a:noFill/>
          <a:ln/>
        </p:spPr>
        <p:txBody>
          <a:bodyPr wrap="square" lIns="0" tIns="0" rIns="0" bIns="0" rtlCol="0" anchor="ctr"/>
          <a:lstStyle/>
          <a:p>
            <a:pPr indent="0" marL="0">
              <a:buNone/>
            </a:pPr>
            <a:r>
              <a:rPr lang="en-US" sz="1400" b="1" dirty="0">
                <a:solidFill>
                  <a:srgbClr val="202124"/>
                </a:solidFill>
              </a:rPr>
              <a:t>Gemini 3.8 Flash</a:t>
            </a:r>
            <a:endParaRPr lang="en-US" sz="1400" dirty="0"/>
          </a:p>
        </p:txBody>
      </p:sp>
      <p:sp>
        <p:nvSpPr>
          <p:cNvPr id="6" name="Text 4"/>
          <p:cNvSpPr txBox="1"/>
          <p:nvPr/>
        </p:nvSpPr>
        <p:spPr>
          <a:xfrm>
            <a:off x="1280160" y="1463040"/>
            <a:ext cx="2926080" cy="320040"/>
          </a:xfrm>
          <a:prstGeom prst="rect">
            <a:avLst/>
          </a:prstGeom>
          <a:noFill/>
          <a:ln/>
        </p:spPr>
        <p:txBody>
          <a:bodyPr wrap="square" lIns="0" tIns="0" rIns="0" bIns="0" rtlCol="0" anchor="ctr"/>
          <a:lstStyle/>
          <a:p>
            <a:pPr indent="0" marL="0">
              <a:buNone/>
            </a:pPr>
            <a:r>
              <a:rPr lang="en-US" sz="1100" dirty="0">
                <a:solidFill>
                  <a:srgbClr val="5F6368"/>
                </a:solidFill>
              </a:rPr>
              <a:t>Investigation with prompt v2 (JSON-escaped)</a:t>
            </a:r>
            <a:endParaRPr lang="en-US" sz="1100" dirty="0"/>
          </a:p>
        </p:txBody>
      </p:sp>
      <p:sp>
        <p:nvSpPr>
          <p:cNvPr id="7" name="Shape 5"/>
          <p:cNvSpPr/>
          <p:nvPr/>
        </p:nvSpPr>
        <p:spPr>
          <a:xfrm>
            <a:off x="548640" y="2011680"/>
            <a:ext cx="3840480" cy="731520"/>
          </a:xfrm>
          <a:prstGeom prst="roundRect">
            <a:avLst>
              <a:gd name="adj" fmla="val 12500"/>
            </a:avLst>
          </a:prstGeom>
          <a:solidFill>
            <a:srgbClr val="FFFFFF"/>
          </a:solidFill>
          <a:ln w="12700">
            <a:solidFill>
              <a:srgbClr val="DADCE0"/>
            </a:solidFill>
            <a:prstDash val="solid"/>
          </a:ln>
          <a:effectLst>
            <a:outerShdw sx="100000" sy="100000" kx="0" ky="0" algn="bl" rotWithShape="0" blurRad="50800" dist="12700" dir="16200000">
              <a:srgbClr val="000000">
                <a:alpha val="8000"/>
              </a:srgbClr>
            </a:outerShdw>
          </a:effectLst>
        </p:spPr>
      </p:sp>
      <p:sp>
        <p:nvSpPr>
          <p:cNvPr id="8" name="Shape 6"/>
          <p:cNvSpPr/>
          <p:nvPr/>
        </p:nvSpPr>
        <p:spPr>
          <a:xfrm>
            <a:off x="731520" y="2194560"/>
            <a:ext cx="365760" cy="365760"/>
          </a:xfrm>
          <a:prstGeom prst="ellipse">
            <a:avLst/>
          </a:prstGeom>
          <a:solidFill>
            <a:srgbClr val="1E8E3E"/>
          </a:solidFill>
          <a:ln/>
        </p:spPr>
      </p:sp>
      <p:sp>
        <p:nvSpPr>
          <p:cNvPr id="9" name="Text 7"/>
          <p:cNvSpPr txBox="1"/>
          <p:nvPr/>
        </p:nvSpPr>
        <p:spPr>
          <a:xfrm>
            <a:off x="1280160" y="2057400"/>
            <a:ext cx="2926080" cy="365760"/>
          </a:xfrm>
          <a:prstGeom prst="rect">
            <a:avLst/>
          </a:prstGeom>
          <a:noFill/>
          <a:ln/>
        </p:spPr>
        <p:txBody>
          <a:bodyPr wrap="square" lIns="0" tIns="0" rIns="0" bIns="0" rtlCol="0" anchor="ctr"/>
          <a:lstStyle/>
          <a:p>
            <a:pPr indent="0" marL="0">
              <a:buNone/>
            </a:pPr>
            <a:r>
              <a:rPr lang="en-US" sz="1400" b="1" dirty="0">
                <a:solidFill>
                  <a:srgbClr val="202124"/>
                </a:solidFill>
              </a:rPr>
              <a:t>FastAPI + Pydantic</a:t>
            </a:r>
            <a:endParaRPr lang="en-US" sz="1400" dirty="0"/>
          </a:p>
        </p:txBody>
      </p:sp>
      <p:sp>
        <p:nvSpPr>
          <p:cNvPr id="10" name="Text 8"/>
          <p:cNvSpPr txBox="1"/>
          <p:nvPr/>
        </p:nvSpPr>
        <p:spPr>
          <a:xfrm>
            <a:off x="1280160" y="2377440"/>
            <a:ext cx="2926080" cy="320040"/>
          </a:xfrm>
          <a:prstGeom prst="rect">
            <a:avLst/>
          </a:prstGeom>
          <a:noFill/>
          <a:ln/>
        </p:spPr>
        <p:txBody>
          <a:bodyPr wrap="square" lIns="0" tIns="0" rIns="0" bIns="0" rtlCol="0" anchor="ctr"/>
          <a:lstStyle/>
          <a:p>
            <a:pPr indent="0" marL="0">
              <a:buNone/>
            </a:pPr>
            <a:r>
              <a:rPr lang="en-US" sz="1100" dirty="0">
                <a:solidFill>
                  <a:srgbClr val="5F6368"/>
                </a:solidFill>
              </a:rPr>
              <a:t>API with typed models and validation</a:t>
            </a:r>
            <a:endParaRPr lang="en-US" sz="1100" dirty="0"/>
          </a:p>
        </p:txBody>
      </p:sp>
      <p:sp>
        <p:nvSpPr>
          <p:cNvPr id="11" name="Shape 9"/>
          <p:cNvSpPr/>
          <p:nvPr/>
        </p:nvSpPr>
        <p:spPr>
          <a:xfrm>
            <a:off x="548640" y="2926080"/>
            <a:ext cx="3840480" cy="731520"/>
          </a:xfrm>
          <a:prstGeom prst="roundRect">
            <a:avLst>
              <a:gd name="adj" fmla="val 12500"/>
            </a:avLst>
          </a:prstGeom>
          <a:solidFill>
            <a:srgbClr val="FFFFFF"/>
          </a:solidFill>
          <a:ln w="12700">
            <a:solidFill>
              <a:srgbClr val="DADCE0"/>
            </a:solidFill>
            <a:prstDash val="solid"/>
          </a:ln>
          <a:effectLst>
            <a:outerShdw sx="100000" sy="100000" kx="0" ky="0" algn="bl" rotWithShape="0" blurRad="50800" dist="12700" dir="16200000">
              <a:srgbClr val="000000">
                <a:alpha val="8000"/>
              </a:srgbClr>
            </a:outerShdw>
          </a:effectLst>
        </p:spPr>
      </p:sp>
      <p:sp>
        <p:nvSpPr>
          <p:cNvPr id="12" name="Shape 10"/>
          <p:cNvSpPr/>
          <p:nvPr/>
        </p:nvSpPr>
        <p:spPr>
          <a:xfrm>
            <a:off x="731520" y="3108960"/>
            <a:ext cx="365760" cy="365760"/>
          </a:xfrm>
          <a:prstGeom prst="ellipse">
            <a:avLst/>
          </a:prstGeom>
          <a:solidFill>
            <a:srgbClr val="E37400"/>
          </a:solidFill>
          <a:ln/>
        </p:spPr>
      </p:sp>
      <p:sp>
        <p:nvSpPr>
          <p:cNvPr id="13" name="Text 11"/>
          <p:cNvSpPr txBox="1"/>
          <p:nvPr/>
        </p:nvSpPr>
        <p:spPr>
          <a:xfrm>
            <a:off x="1280160" y="2971800"/>
            <a:ext cx="2926080" cy="365760"/>
          </a:xfrm>
          <a:prstGeom prst="rect">
            <a:avLst/>
          </a:prstGeom>
          <a:noFill/>
          <a:ln/>
        </p:spPr>
        <p:txBody>
          <a:bodyPr wrap="square" lIns="0" tIns="0" rIns="0" bIns="0" rtlCol="0" anchor="ctr"/>
          <a:lstStyle/>
          <a:p>
            <a:pPr indent="0" marL="0">
              <a:buNone/>
            </a:pPr>
            <a:r>
              <a:rPr lang="en-US" sz="1400" b="1" dirty="0">
                <a:solidFill>
                  <a:srgbClr val="202124"/>
                </a:solidFill>
              </a:rPr>
              <a:t>Deterministic Reconciler</a:t>
            </a:r>
            <a:endParaRPr lang="en-US" sz="1400" dirty="0"/>
          </a:p>
        </p:txBody>
      </p:sp>
      <p:sp>
        <p:nvSpPr>
          <p:cNvPr id="14" name="Text 12"/>
          <p:cNvSpPr txBox="1"/>
          <p:nvPr/>
        </p:nvSpPr>
        <p:spPr>
          <a:xfrm>
            <a:off x="1280160" y="3291840"/>
            <a:ext cx="2926080" cy="320040"/>
          </a:xfrm>
          <a:prstGeom prst="rect">
            <a:avLst/>
          </a:prstGeom>
          <a:noFill/>
          <a:ln/>
        </p:spPr>
        <p:txBody>
          <a:bodyPr wrap="square" lIns="0" tIns="0" rIns="0" bIns="0" rtlCol="0" anchor="ctr"/>
          <a:lstStyle/>
          <a:p>
            <a:pPr indent="0" marL="0">
              <a:buNone/>
            </a:pPr>
            <a:r>
              <a:rPr lang="en-US" sz="1100" dirty="0">
                <a:solidFill>
                  <a:srgbClr val="5F6368"/>
                </a:solidFill>
              </a:rPr>
              <a:t>DAG-aware temporal state reconstruction</a:t>
            </a:r>
            <a:endParaRPr lang="en-US" sz="1100" dirty="0"/>
          </a:p>
        </p:txBody>
      </p:sp>
      <p:sp>
        <p:nvSpPr>
          <p:cNvPr id="15" name="Shape 13"/>
          <p:cNvSpPr/>
          <p:nvPr/>
        </p:nvSpPr>
        <p:spPr>
          <a:xfrm>
            <a:off x="548640" y="3840480"/>
            <a:ext cx="3840480" cy="731520"/>
          </a:xfrm>
          <a:prstGeom prst="roundRect">
            <a:avLst>
              <a:gd name="adj" fmla="val 12500"/>
            </a:avLst>
          </a:prstGeom>
          <a:solidFill>
            <a:srgbClr val="FFFFFF"/>
          </a:solidFill>
          <a:ln w="12700">
            <a:solidFill>
              <a:srgbClr val="DADCE0"/>
            </a:solidFill>
            <a:prstDash val="solid"/>
          </a:ln>
          <a:effectLst>
            <a:outerShdw sx="100000" sy="100000" kx="0" ky="0" algn="bl" rotWithShape="0" blurRad="50800" dist="12700" dir="16200000">
              <a:srgbClr val="000000">
                <a:alpha val="8000"/>
              </a:srgbClr>
            </a:outerShdw>
          </a:effectLst>
        </p:spPr>
      </p:sp>
      <p:sp>
        <p:nvSpPr>
          <p:cNvPr id="16" name="Shape 14"/>
          <p:cNvSpPr/>
          <p:nvPr/>
        </p:nvSpPr>
        <p:spPr>
          <a:xfrm>
            <a:off x="731520" y="4023360"/>
            <a:ext cx="365760" cy="365760"/>
          </a:xfrm>
          <a:prstGeom prst="ellipse">
            <a:avLst/>
          </a:prstGeom>
          <a:solidFill>
            <a:srgbClr val="1A73E8"/>
          </a:solidFill>
          <a:ln/>
        </p:spPr>
      </p:sp>
      <p:sp>
        <p:nvSpPr>
          <p:cNvPr id="17" name="Text 15"/>
          <p:cNvSpPr txBox="1"/>
          <p:nvPr/>
        </p:nvSpPr>
        <p:spPr>
          <a:xfrm>
            <a:off x="1280160" y="3886200"/>
            <a:ext cx="2926080" cy="365760"/>
          </a:xfrm>
          <a:prstGeom prst="rect">
            <a:avLst/>
          </a:prstGeom>
          <a:noFill/>
          <a:ln/>
        </p:spPr>
        <p:txBody>
          <a:bodyPr wrap="square" lIns="0" tIns="0" rIns="0" bIns="0" rtlCol="0" anchor="ctr"/>
          <a:lstStyle/>
          <a:p>
            <a:pPr indent="0" marL="0">
              <a:buNone/>
            </a:pPr>
            <a:r>
              <a:rPr lang="en-US" sz="1400" b="1" dirty="0">
                <a:solidFill>
                  <a:srgbClr val="202124"/>
                </a:solidFill>
              </a:rPr>
              <a:t>Cloud Run (asia-south1)</a:t>
            </a:r>
            <a:endParaRPr lang="en-US" sz="1400" dirty="0"/>
          </a:p>
        </p:txBody>
      </p:sp>
      <p:sp>
        <p:nvSpPr>
          <p:cNvPr id="18" name="Text 16"/>
          <p:cNvSpPr txBox="1"/>
          <p:nvPr/>
        </p:nvSpPr>
        <p:spPr>
          <a:xfrm>
            <a:off x="1280160" y="4206240"/>
            <a:ext cx="2926080" cy="320040"/>
          </a:xfrm>
          <a:prstGeom prst="rect">
            <a:avLst/>
          </a:prstGeom>
          <a:noFill/>
          <a:ln/>
        </p:spPr>
        <p:txBody>
          <a:bodyPr wrap="square" lIns="0" tIns="0" rIns="0" bIns="0" rtlCol="0" anchor="ctr"/>
          <a:lstStyle/>
          <a:p>
            <a:pPr indent="0" marL="0">
              <a:buNone/>
            </a:pPr>
            <a:r>
              <a:rPr lang="en-US" sz="1100" dirty="0">
                <a:solidFill>
                  <a:srgbClr val="5F6368"/>
                </a:solidFill>
              </a:rPr>
              <a:t>Serverless deployment on Google Cloud</a:t>
            </a:r>
            <a:endParaRPr lang="en-US" sz="1100" dirty="0"/>
          </a:p>
        </p:txBody>
      </p:sp>
      <p:sp>
        <p:nvSpPr>
          <p:cNvPr id="19" name="Text 17"/>
          <p:cNvSpPr txBox="1"/>
          <p:nvPr/>
        </p:nvSpPr>
        <p:spPr>
          <a:xfrm>
            <a:off x="4754880" y="1097280"/>
            <a:ext cx="3840480" cy="457200"/>
          </a:xfrm>
          <a:prstGeom prst="rect">
            <a:avLst/>
          </a:prstGeom>
          <a:noFill/>
          <a:ln/>
        </p:spPr>
        <p:txBody>
          <a:bodyPr wrap="square" lIns="0" tIns="0" rIns="0" bIns="0" rtlCol="0" anchor="ctr"/>
          <a:lstStyle/>
          <a:p>
            <a:pPr indent="0" marL="0">
              <a:buNone/>
            </a:pPr>
            <a:r>
              <a:rPr lang="en-US" sz="1800" b="1" dirty="0">
                <a:solidFill>
                  <a:srgbClr val="202124"/>
                </a:solidFill>
              </a:rPr>
              <a:t>Key Design Decisions</a:t>
            </a:r>
            <a:endParaRPr lang="en-US" sz="1800" dirty="0"/>
          </a:p>
        </p:txBody>
      </p:sp>
      <p:sp>
        <p:nvSpPr>
          <p:cNvPr id="20" name="Shape 18"/>
          <p:cNvSpPr/>
          <p:nvPr/>
        </p:nvSpPr>
        <p:spPr>
          <a:xfrm>
            <a:off x="4846320" y="1719072"/>
            <a:ext cx="182880" cy="182880"/>
          </a:xfrm>
          <a:prstGeom prst="ellipse">
            <a:avLst/>
          </a:prstGeom>
          <a:solidFill>
            <a:srgbClr val="1A73E8"/>
          </a:solidFill>
          <a:ln/>
        </p:spPr>
      </p:sp>
      <p:sp>
        <p:nvSpPr>
          <p:cNvPr id="21" name="Text 19"/>
          <p:cNvSpPr txBox="1"/>
          <p:nvPr/>
        </p:nvSpPr>
        <p:spPr>
          <a:xfrm>
            <a:off x="5212080" y="1645920"/>
            <a:ext cx="3383280" cy="411480"/>
          </a:xfrm>
          <a:prstGeom prst="rect">
            <a:avLst/>
          </a:prstGeom>
          <a:noFill/>
          <a:ln/>
        </p:spPr>
        <p:txBody>
          <a:bodyPr wrap="square" lIns="0" tIns="0" rIns="0" bIns="0" rtlCol="0" anchor="ctr"/>
          <a:lstStyle/>
          <a:p>
            <a:pPr indent="0" marL="0">
              <a:buNone/>
            </a:pPr>
            <a:r>
              <a:rPr lang="en-US" sz="1300" dirty="0">
                <a:solidFill>
                  <a:srgbClr val="202124"/>
                </a:solidFill>
              </a:rPr>
              <a:t>Evidence text treated as untrusted data</a:t>
            </a:r>
            <a:endParaRPr lang="en-US" sz="1300" dirty="0"/>
          </a:p>
        </p:txBody>
      </p:sp>
      <p:sp>
        <p:nvSpPr>
          <p:cNvPr id="22" name="Shape 20"/>
          <p:cNvSpPr/>
          <p:nvPr/>
        </p:nvSpPr>
        <p:spPr>
          <a:xfrm>
            <a:off x="4846320" y="2221992"/>
            <a:ext cx="182880" cy="182880"/>
          </a:xfrm>
          <a:prstGeom prst="ellipse">
            <a:avLst/>
          </a:prstGeom>
          <a:solidFill>
            <a:srgbClr val="1A73E8"/>
          </a:solidFill>
          <a:ln/>
        </p:spPr>
      </p:sp>
      <p:sp>
        <p:nvSpPr>
          <p:cNvPr id="23" name="Text 21"/>
          <p:cNvSpPr txBox="1"/>
          <p:nvPr/>
        </p:nvSpPr>
        <p:spPr>
          <a:xfrm>
            <a:off x="5212080" y="2148840"/>
            <a:ext cx="3383280" cy="411480"/>
          </a:xfrm>
          <a:prstGeom prst="rect">
            <a:avLst/>
          </a:prstGeom>
          <a:noFill/>
          <a:ln/>
        </p:spPr>
        <p:txBody>
          <a:bodyPr wrap="square" lIns="0" tIns="0" rIns="0" bIns="0" rtlCol="0" anchor="ctr"/>
          <a:lstStyle/>
          <a:p>
            <a:pPr indent="0" marL="0">
              <a:buNone/>
            </a:pPr>
            <a:r>
              <a:rPr lang="en-US" sz="1300" dirty="0">
                <a:solidFill>
                  <a:srgbClr val="202124"/>
                </a:solidFill>
              </a:rPr>
              <a:t>Prompt v2: JSON-escaped input prevents injection</a:t>
            </a:r>
            <a:endParaRPr lang="en-US" sz="1300" dirty="0"/>
          </a:p>
        </p:txBody>
      </p:sp>
      <p:sp>
        <p:nvSpPr>
          <p:cNvPr id="24" name="Shape 22"/>
          <p:cNvSpPr/>
          <p:nvPr/>
        </p:nvSpPr>
        <p:spPr>
          <a:xfrm>
            <a:off x="4846320" y="2724912"/>
            <a:ext cx="182880" cy="182880"/>
          </a:xfrm>
          <a:prstGeom prst="ellipse">
            <a:avLst/>
          </a:prstGeom>
          <a:solidFill>
            <a:srgbClr val="1A73E8"/>
          </a:solidFill>
          <a:ln/>
        </p:spPr>
      </p:sp>
      <p:sp>
        <p:nvSpPr>
          <p:cNvPr id="25" name="Text 23"/>
          <p:cNvSpPr txBox="1"/>
          <p:nvPr/>
        </p:nvSpPr>
        <p:spPr>
          <a:xfrm>
            <a:off x="5212080" y="2651760"/>
            <a:ext cx="3383280" cy="411480"/>
          </a:xfrm>
          <a:prstGeom prst="rect">
            <a:avLst/>
          </a:prstGeom>
          <a:noFill/>
          <a:ln/>
        </p:spPr>
        <p:txBody>
          <a:bodyPr wrap="square" lIns="0" tIns="0" rIns="0" bIns="0" rtlCol="0" anchor="ctr"/>
          <a:lstStyle/>
          <a:p>
            <a:pPr indent="0" marL="0">
              <a:buNone/>
            </a:pPr>
            <a:r>
              <a:rPr lang="en-US" sz="1300" dirty="0">
                <a:solidFill>
                  <a:srgbClr val="202124"/>
                </a:solidFill>
              </a:rPr>
              <a:t>DAG-aware commit history (not assumed linear)</a:t>
            </a:r>
            <a:endParaRPr lang="en-US" sz="1300" dirty="0"/>
          </a:p>
        </p:txBody>
      </p:sp>
      <p:sp>
        <p:nvSpPr>
          <p:cNvPr id="26" name="Shape 24"/>
          <p:cNvSpPr/>
          <p:nvPr/>
        </p:nvSpPr>
        <p:spPr>
          <a:xfrm>
            <a:off x="4846320" y="3227832"/>
            <a:ext cx="182880" cy="182880"/>
          </a:xfrm>
          <a:prstGeom prst="ellipse">
            <a:avLst/>
          </a:prstGeom>
          <a:solidFill>
            <a:srgbClr val="1A73E8"/>
          </a:solidFill>
          <a:ln/>
        </p:spPr>
      </p:sp>
      <p:sp>
        <p:nvSpPr>
          <p:cNvPr id="27" name="Text 25"/>
          <p:cNvSpPr txBox="1"/>
          <p:nvPr/>
        </p:nvSpPr>
        <p:spPr>
          <a:xfrm>
            <a:off x="5212080" y="3154680"/>
            <a:ext cx="3383280" cy="411480"/>
          </a:xfrm>
          <a:prstGeom prst="rect">
            <a:avLst/>
          </a:prstGeom>
          <a:noFill/>
          <a:ln/>
        </p:spPr>
        <p:txBody>
          <a:bodyPr wrap="square" lIns="0" tIns="0" rIns="0" bIns="0" rtlCol="0" anchor="ctr"/>
          <a:lstStyle/>
          <a:p>
            <a:pPr indent="0" marL="0">
              <a:buNone/>
            </a:pPr>
            <a:r>
              <a:rPr lang="en-US" sz="1300" dirty="0">
                <a:solidFill>
                  <a:srgbClr val="202124"/>
                </a:solidFill>
              </a:rPr>
              <a:t>Two time views: contemporaneous vs retrospective</a:t>
            </a:r>
            <a:endParaRPr lang="en-US" sz="1300" dirty="0"/>
          </a:p>
        </p:txBody>
      </p:sp>
      <p:sp>
        <p:nvSpPr>
          <p:cNvPr id="28" name="Shape 26"/>
          <p:cNvSpPr/>
          <p:nvPr/>
        </p:nvSpPr>
        <p:spPr>
          <a:xfrm>
            <a:off x="4846320" y="3730752"/>
            <a:ext cx="182880" cy="182880"/>
          </a:xfrm>
          <a:prstGeom prst="ellipse">
            <a:avLst/>
          </a:prstGeom>
          <a:solidFill>
            <a:srgbClr val="1A73E8"/>
          </a:solidFill>
          <a:ln/>
        </p:spPr>
      </p:sp>
      <p:sp>
        <p:nvSpPr>
          <p:cNvPr id="29" name="Text 27"/>
          <p:cNvSpPr txBox="1"/>
          <p:nvPr/>
        </p:nvSpPr>
        <p:spPr>
          <a:xfrm>
            <a:off x="5212080" y="3657600"/>
            <a:ext cx="3383280" cy="411480"/>
          </a:xfrm>
          <a:prstGeom prst="rect">
            <a:avLst/>
          </a:prstGeom>
          <a:noFill/>
          <a:ln/>
        </p:spPr>
        <p:txBody>
          <a:bodyPr wrap="square" lIns="0" tIns="0" rIns="0" bIns="0" rtlCol="0" anchor="ctr"/>
          <a:lstStyle/>
          <a:p>
            <a:pPr indent="0" marL="0">
              <a:buNone/>
            </a:pPr>
            <a:r>
              <a:rPr lang="en-US" sz="1300" dirty="0">
                <a:solidFill>
                  <a:srgbClr val="202124"/>
                </a:solidFill>
              </a:rPr>
              <a:t>Gemini may abstain when evidence is insufficient</a:t>
            </a:r>
            <a:endParaRPr lang="en-US" sz="1300" dirty="0"/>
          </a:p>
        </p:txBody>
      </p:sp>
      <p:sp>
        <p:nvSpPr>
          <p:cNvPr id="30" name="Shape 28"/>
          <p:cNvSpPr/>
          <p:nvPr/>
        </p:nvSpPr>
        <p:spPr>
          <a:xfrm>
            <a:off x="4846320" y="4233672"/>
            <a:ext cx="182880" cy="182880"/>
          </a:xfrm>
          <a:prstGeom prst="ellipse">
            <a:avLst/>
          </a:prstGeom>
          <a:solidFill>
            <a:srgbClr val="1A73E8"/>
          </a:solidFill>
          <a:ln/>
        </p:spPr>
      </p:sp>
      <p:sp>
        <p:nvSpPr>
          <p:cNvPr id="31" name="Text 29"/>
          <p:cNvSpPr txBox="1"/>
          <p:nvPr/>
        </p:nvSpPr>
        <p:spPr>
          <a:xfrm>
            <a:off x="5212080" y="4160520"/>
            <a:ext cx="3383280" cy="411480"/>
          </a:xfrm>
          <a:prstGeom prst="rect">
            <a:avLst/>
          </a:prstGeom>
          <a:noFill/>
          <a:ln/>
        </p:spPr>
        <p:txBody>
          <a:bodyPr wrap="square" lIns="0" tIns="0" rIns="0" bIns="0" rtlCol="0" anchor="ctr"/>
          <a:lstStyle/>
          <a:p>
            <a:pPr indent="0" marL="0">
              <a:buNone/>
            </a:pPr>
            <a:r>
              <a:rPr lang="en-US" sz="1300" dirty="0">
                <a:solidFill>
                  <a:srgbClr val="202124"/>
                </a:solidFill>
              </a:rPr>
              <a:t>Material Design 3 UI with interactive composer</a:t>
            </a:r>
            <a:endParaRPr lang="en-US" sz="13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0"/>
            <a:ext cx="8046720" cy="1097280"/>
          </a:xfrm>
          <a:prstGeom prst="rect">
            <a:avLst/>
          </a:prstGeom>
          <a:noFill/>
          <a:ln/>
        </p:spPr>
        <p:txBody>
          <a:bodyPr wrap="square" lIns="0" tIns="0" rIns="0" bIns="0" rtlCol="0" anchor="ctr"/>
          <a:lstStyle/>
          <a:p>
            <a:pPr indent="0" marL="0">
              <a:buNone/>
            </a:pPr>
            <a:r>
              <a:rPr lang="en-US" sz="4800" b="1" dirty="0">
                <a:solidFill>
                  <a:srgbClr val="FFFFFF"/>
                </a:solidFill>
              </a:rPr>
              <a:t>Results</a:t>
            </a:r>
            <a:endParaRPr lang="en-US" sz="4800" dirty="0"/>
          </a:p>
        </p:txBody>
      </p:sp>
      <p:sp>
        <p:nvSpPr>
          <p:cNvPr id="3" name="Text 1"/>
          <p:cNvSpPr txBox="1"/>
          <p:nvPr/>
        </p:nvSpPr>
        <p:spPr>
          <a:xfrm>
            <a:off x="548640" y="2743200"/>
            <a:ext cx="8046720" cy="548640"/>
          </a:xfrm>
          <a:prstGeom prst="rect">
            <a:avLst/>
          </a:prstGeom>
          <a:noFill/>
          <a:ln/>
        </p:spPr>
        <p:txBody>
          <a:bodyPr wrap="square" lIns="0" tIns="0" rIns="0" bIns="0" rtlCol="0" anchor="ctr"/>
          <a:lstStyle/>
          <a:p>
            <a:pPr indent="0" marL="0">
              <a:buNone/>
            </a:pPr>
            <a:r>
              <a:rPr lang="en-US" sz="2000" dirty="0">
                <a:solidFill>
                  <a:srgbClr val="A8C7FA"/>
                </a:solidFill>
              </a:rPr>
              <a:t>What we measured and what we found</a:t>
            </a:r>
            <a:endParaRPr lang="en-US" sz="20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Investigation Benchmark</a:t>
            </a:r>
            <a:endParaRPr lang="en-US" sz="3600" dirty="0"/>
          </a:p>
        </p:txBody>
      </p:sp>
      <p:sp>
        <p:nvSpPr>
          <p:cNvPr id="3" name="Text 1"/>
          <p:cNvSpPr txBox="1"/>
          <p:nvPr/>
        </p:nvSpPr>
        <p:spPr>
          <a:xfrm>
            <a:off x="548640" y="868680"/>
            <a:ext cx="8046720" cy="365760"/>
          </a:xfrm>
          <a:prstGeom prst="rect">
            <a:avLst/>
          </a:prstGeom>
          <a:noFill/>
          <a:ln/>
        </p:spPr>
        <p:txBody>
          <a:bodyPr wrap="square" lIns="0" tIns="0" rIns="0" bIns="0" rtlCol="0" anchor="ctr"/>
          <a:lstStyle/>
          <a:p>
            <a:pPr indent="0" marL="0">
              <a:buNone/>
            </a:pPr>
            <a:r>
              <a:rPr lang="en-US" sz="1300" dirty="0">
                <a:solidFill>
                  <a:srgbClr val="5F6368"/>
                </a:solidFill>
              </a:rPr>
              <a:t>16 synthetic scenarios (8 types x 2), Gemini 3.8 Flash, each run twice per mode</a:t>
            </a:r>
            <a:endParaRPr lang="en-US" sz="1300" dirty="0"/>
          </a:p>
        </p:txBody>
      </p:sp>
      <p:sp>
        <p:nvSpPr>
          <p:cNvPr id="4" name="Shape 2"/>
          <p:cNvSpPr/>
          <p:nvPr/>
        </p:nvSpPr>
        <p:spPr>
          <a:xfrm>
            <a:off x="548640" y="1371600"/>
            <a:ext cx="1920240" cy="1645920"/>
          </a:xfrm>
          <a:prstGeom prst="roundRect">
            <a:avLst>
              <a:gd name="adj" fmla="val 6667"/>
            </a:avLst>
          </a:prstGeom>
          <a:solidFill>
            <a:srgbClr val="F8F9FA"/>
          </a:solidFill>
          <a:ln/>
          <a:effectLst>
            <a:outerShdw sx="100000" sy="100000" kx="0" ky="0" algn="bl" rotWithShape="0" blurRad="50800" dist="12700" dir="16200000">
              <a:srgbClr val="000000">
                <a:alpha val="8000"/>
              </a:srgbClr>
            </a:outerShdw>
          </a:effectLst>
        </p:spPr>
      </p:sp>
      <p:sp>
        <p:nvSpPr>
          <p:cNvPr id="5" name="Text 3"/>
          <p:cNvSpPr txBox="1"/>
          <p:nvPr/>
        </p:nvSpPr>
        <p:spPr>
          <a:xfrm>
            <a:off x="548640" y="1463040"/>
            <a:ext cx="1920240" cy="640080"/>
          </a:xfrm>
          <a:prstGeom prst="rect">
            <a:avLst/>
          </a:prstGeom>
          <a:noFill/>
          <a:ln/>
        </p:spPr>
        <p:txBody>
          <a:bodyPr wrap="square" lIns="0" tIns="0" rIns="0" bIns="0" rtlCol="0" anchor="ctr"/>
          <a:lstStyle/>
          <a:p>
            <a:pPr algn="ctr" indent="0" marL="0">
              <a:buNone/>
            </a:pPr>
            <a:r>
              <a:rPr lang="en-US" sz="4000" b="1" dirty="0">
                <a:solidFill>
                  <a:srgbClr val="1E8E3E"/>
                </a:solidFill>
              </a:rPr>
              <a:t>0</a:t>
            </a:r>
            <a:endParaRPr lang="en-US" sz="4000" dirty="0"/>
          </a:p>
        </p:txBody>
      </p:sp>
      <p:sp>
        <p:nvSpPr>
          <p:cNvPr id="6" name="Text 4"/>
          <p:cNvSpPr txBox="1"/>
          <p:nvPr/>
        </p:nvSpPr>
        <p:spPr>
          <a:xfrm>
            <a:off x="548640" y="2103120"/>
            <a:ext cx="1920240" cy="548640"/>
          </a:xfrm>
          <a:prstGeom prst="rect">
            <a:avLst/>
          </a:prstGeom>
          <a:noFill/>
          <a:ln/>
        </p:spPr>
        <p:txBody>
          <a:bodyPr wrap="square" lIns="0" tIns="0" rIns="0" bIns="0" rtlCol="0" anchor="ctr"/>
          <a:lstStyle/>
          <a:p>
            <a:pPr algn="ctr" indent="0" marL="0">
              <a:buNone/>
            </a:pPr>
            <a:r>
              <a:rPr lang="en-US" sz="1300" b="1" dirty="0">
                <a:solidFill>
                  <a:srgbClr val="202124"/>
                </a:solidFill>
              </a:rPr>
              <a:t>Wrong</a:t>
            </a:r>
            <a:endParaRPr lang="en-US" sz="1300" dirty="0"/>
          </a:p>
          <a:p>
            <a:pPr algn="ctr" indent="0" marL="0">
              <a:buNone/>
            </a:pPr>
            <a:r>
              <a:rPr lang="en-US" sz="1300" b="1" dirty="0">
                <a:solidFill>
                  <a:srgbClr val="202124"/>
                </a:solidFill>
              </a:rPr>
              <a:t>Attributions</a:t>
            </a:r>
            <a:endParaRPr lang="en-US" sz="1300" dirty="0"/>
          </a:p>
        </p:txBody>
      </p:sp>
      <p:sp>
        <p:nvSpPr>
          <p:cNvPr id="7" name="Text 5"/>
          <p:cNvSpPr txBox="1"/>
          <p:nvPr/>
        </p:nvSpPr>
        <p:spPr>
          <a:xfrm>
            <a:off x="548640" y="2606040"/>
            <a:ext cx="1920240" cy="320040"/>
          </a:xfrm>
          <a:prstGeom prst="rect">
            <a:avLst/>
          </a:prstGeom>
          <a:noFill/>
          <a:ln/>
        </p:spPr>
        <p:txBody>
          <a:bodyPr wrap="square" lIns="0" tIns="0" rIns="0" bIns="0" rtlCol="0" anchor="ctr"/>
          <a:lstStyle/>
          <a:p>
            <a:pPr algn="ctr" indent="0" marL="0">
              <a:buNone/>
            </a:pPr>
            <a:r>
              <a:rPr lang="en-US" sz="1100" dirty="0">
                <a:solidFill>
                  <a:srgbClr val="5F6368"/>
                </a:solidFill>
              </a:rPr>
              <a:t>across all 96 runs</a:t>
            </a:r>
            <a:endParaRPr lang="en-US" sz="1100" dirty="0"/>
          </a:p>
        </p:txBody>
      </p:sp>
      <p:sp>
        <p:nvSpPr>
          <p:cNvPr id="8" name="Shape 6"/>
          <p:cNvSpPr/>
          <p:nvPr/>
        </p:nvSpPr>
        <p:spPr>
          <a:xfrm>
            <a:off x="2697480" y="1371600"/>
            <a:ext cx="1920240" cy="1645920"/>
          </a:xfrm>
          <a:prstGeom prst="roundRect">
            <a:avLst>
              <a:gd name="adj" fmla="val 6667"/>
            </a:avLst>
          </a:prstGeom>
          <a:solidFill>
            <a:srgbClr val="F8F9FA"/>
          </a:solidFill>
          <a:ln/>
          <a:effectLst>
            <a:outerShdw sx="100000" sy="100000" kx="0" ky="0" algn="bl" rotWithShape="0" blurRad="50800" dist="12700" dir="16200000">
              <a:srgbClr val="000000">
                <a:alpha val="8000"/>
              </a:srgbClr>
            </a:outerShdw>
          </a:effectLst>
        </p:spPr>
      </p:sp>
      <p:sp>
        <p:nvSpPr>
          <p:cNvPr id="9" name="Text 7"/>
          <p:cNvSpPr txBox="1"/>
          <p:nvPr/>
        </p:nvSpPr>
        <p:spPr>
          <a:xfrm>
            <a:off x="2697480" y="1463040"/>
            <a:ext cx="1920240" cy="640080"/>
          </a:xfrm>
          <a:prstGeom prst="rect">
            <a:avLst/>
          </a:prstGeom>
          <a:noFill/>
          <a:ln/>
        </p:spPr>
        <p:txBody>
          <a:bodyPr wrap="square" lIns="0" tIns="0" rIns="0" bIns="0" rtlCol="0" anchor="ctr"/>
          <a:lstStyle/>
          <a:p>
            <a:pPr algn="ctr" indent="0" marL="0">
              <a:buNone/>
            </a:pPr>
            <a:r>
              <a:rPr lang="en-US" sz="4000" b="1" dirty="0">
                <a:solidFill>
                  <a:srgbClr val="1E8E3E"/>
                </a:solidFill>
              </a:rPr>
              <a:t>0</a:t>
            </a:r>
            <a:endParaRPr lang="en-US" sz="4000" dirty="0"/>
          </a:p>
        </p:txBody>
      </p:sp>
      <p:sp>
        <p:nvSpPr>
          <p:cNvPr id="10" name="Text 8"/>
          <p:cNvSpPr txBox="1"/>
          <p:nvPr/>
        </p:nvSpPr>
        <p:spPr>
          <a:xfrm>
            <a:off x="2697480" y="2103120"/>
            <a:ext cx="1920240" cy="548640"/>
          </a:xfrm>
          <a:prstGeom prst="rect">
            <a:avLst/>
          </a:prstGeom>
          <a:noFill/>
          <a:ln/>
        </p:spPr>
        <p:txBody>
          <a:bodyPr wrap="square" lIns="0" tIns="0" rIns="0" bIns="0" rtlCol="0" anchor="ctr"/>
          <a:lstStyle/>
          <a:p>
            <a:pPr algn="ctr" indent="0" marL="0">
              <a:buNone/>
            </a:pPr>
            <a:r>
              <a:rPr lang="en-US" sz="1300" b="1" dirty="0">
                <a:solidFill>
                  <a:srgbClr val="202124"/>
                </a:solidFill>
              </a:rPr>
              <a:t>Fabricated</a:t>
            </a:r>
            <a:endParaRPr lang="en-US" sz="1300" dirty="0"/>
          </a:p>
          <a:p>
            <a:pPr algn="ctr" indent="0" marL="0">
              <a:buNone/>
            </a:pPr>
            <a:r>
              <a:rPr lang="en-US" sz="1300" b="1" dirty="0">
                <a:solidFill>
                  <a:srgbClr val="202124"/>
                </a:solidFill>
              </a:rPr>
              <a:t>Citations</a:t>
            </a:r>
            <a:endParaRPr lang="en-US" sz="1300" dirty="0"/>
          </a:p>
        </p:txBody>
      </p:sp>
      <p:sp>
        <p:nvSpPr>
          <p:cNvPr id="11" name="Text 9"/>
          <p:cNvSpPr txBox="1"/>
          <p:nvPr/>
        </p:nvSpPr>
        <p:spPr>
          <a:xfrm>
            <a:off x="2697480" y="2606040"/>
            <a:ext cx="1920240" cy="320040"/>
          </a:xfrm>
          <a:prstGeom prst="rect">
            <a:avLst/>
          </a:prstGeom>
          <a:noFill/>
          <a:ln/>
        </p:spPr>
        <p:txBody>
          <a:bodyPr wrap="square" lIns="0" tIns="0" rIns="0" bIns="0" rtlCol="0" anchor="ctr"/>
          <a:lstStyle/>
          <a:p>
            <a:pPr algn="ctr" indent="0" marL="0">
              <a:buNone/>
            </a:pPr>
            <a:r>
              <a:rPr lang="en-US" sz="1100" dirty="0">
                <a:solidFill>
                  <a:srgbClr val="5F6368"/>
                </a:solidFill>
              </a:rPr>
              <a:t>across all 96 runs</a:t>
            </a:r>
            <a:endParaRPr lang="en-US" sz="1100" dirty="0"/>
          </a:p>
        </p:txBody>
      </p:sp>
      <p:sp>
        <p:nvSpPr>
          <p:cNvPr id="12" name="Shape 10"/>
          <p:cNvSpPr/>
          <p:nvPr/>
        </p:nvSpPr>
        <p:spPr>
          <a:xfrm>
            <a:off x="4846320" y="1371600"/>
            <a:ext cx="1920240" cy="1645920"/>
          </a:xfrm>
          <a:prstGeom prst="roundRect">
            <a:avLst>
              <a:gd name="adj" fmla="val 6667"/>
            </a:avLst>
          </a:prstGeom>
          <a:solidFill>
            <a:srgbClr val="F8F9FA"/>
          </a:solidFill>
          <a:ln/>
          <a:effectLst>
            <a:outerShdw sx="100000" sy="100000" kx="0" ky="0" algn="bl" rotWithShape="0" blurRad="50800" dist="12700" dir="16200000">
              <a:srgbClr val="000000">
                <a:alpha val="8000"/>
              </a:srgbClr>
            </a:outerShdw>
          </a:effectLst>
        </p:spPr>
      </p:sp>
      <p:sp>
        <p:nvSpPr>
          <p:cNvPr id="13" name="Text 11"/>
          <p:cNvSpPr txBox="1"/>
          <p:nvPr/>
        </p:nvSpPr>
        <p:spPr>
          <a:xfrm>
            <a:off x="4846320" y="1463040"/>
            <a:ext cx="1920240" cy="640080"/>
          </a:xfrm>
          <a:prstGeom prst="rect">
            <a:avLst/>
          </a:prstGeom>
          <a:noFill/>
          <a:ln/>
        </p:spPr>
        <p:txBody>
          <a:bodyPr wrap="square" lIns="0" tIns="0" rIns="0" bIns="0" rtlCol="0" anchor="ctr"/>
          <a:lstStyle/>
          <a:p>
            <a:pPr algn="ctr" indent="0" marL="0">
              <a:buNone/>
            </a:pPr>
            <a:r>
              <a:rPr lang="en-US" sz="4000" b="1" dirty="0">
                <a:solidFill>
                  <a:srgbClr val="1A73E8"/>
                </a:solidFill>
              </a:rPr>
              <a:t>24/24</a:t>
            </a:r>
            <a:endParaRPr lang="en-US" sz="4000" dirty="0"/>
          </a:p>
        </p:txBody>
      </p:sp>
      <p:sp>
        <p:nvSpPr>
          <p:cNvPr id="14" name="Text 12"/>
          <p:cNvSpPr txBox="1"/>
          <p:nvPr/>
        </p:nvSpPr>
        <p:spPr>
          <a:xfrm>
            <a:off x="4846320" y="2103120"/>
            <a:ext cx="1920240" cy="548640"/>
          </a:xfrm>
          <a:prstGeom prst="rect">
            <a:avLst/>
          </a:prstGeom>
          <a:noFill/>
          <a:ln/>
        </p:spPr>
        <p:txBody>
          <a:bodyPr wrap="square" lIns="0" tIns="0" rIns="0" bIns="0" rtlCol="0" anchor="ctr"/>
          <a:lstStyle/>
          <a:p>
            <a:pPr algn="ctr" indent="0" marL="0">
              <a:buNone/>
            </a:pPr>
            <a:r>
              <a:rPr lang="en-US" sz="1300" b="1" dirty="0">
                <a:solidFill>
                  <a:srgbClr val="202124"/>
                </a:solidFill>
              </a:rPr>
              <a:t>Correct</a:t>
            </a:r>
            <a:endParaRPr lang="en-US" sz="1300" dirty="0"/>
          </a:p>
          <a:p>
            <a:pPr algn="ctr" indent="0" marL="0">
              <a:buNone/>
            </a:pPr>
            <a:r>
              <a:rPr lang="en-US" sz="1300" b="1" dirty="0">
                <a:solidFill>
                  <a:srgbClr val="202124"/>
                </a:solidFill>
              </a:rPr>
              <a:t>Cause</a:t>
            </a:r>
            <a:endParaRPr lang="en-US" sz="1300" dirty="0"/>
          </a:p>
        </p:txBody>
      </p:sp>
      <p:sp>
        <p:nvSpPr>
          <p:cNvPr id="15" name="Text 13"/>
          <p:cNvSpPr txBox="1"/>
          <p:nvPr/>
        </p:nvSpPr>
        <p:spPr>
          <a:xfrm>
            <a:off x="4846320" y="2606040"/>
            <a:ext cx="1920240" cy="320040"/>
          </a:xfrm>
          <a:prstGeom prst="rect">
            <a:avLst/>
          </a:prstGeom>
          <a:noFill/>
          <a:ln/>
        </p:spPr>
        <p:txBody>
          <a:bodyPr wrap="square" lIns="0" tIns="0" rIns="0" bIns="0" rtlCol="0" anchor="ctr"/>
          <a:lstStyle/>
          <a:p>
            <a:pPr algn="ctr" indent="0" marL="0">
              <a:buNone/>
            </a:pPr>
            <a:r>
              <a:rPr lang="en-US" sz="1100" dirty="0">
                <a:solidFill>
                  <a:srgbClr val="5F6368"/>
                </a:solidFill>
              </a:rPr>
              <a:t>with reconciliation</a:t>
            </a:r>
            <a:endParaRPr lang="en-US" sz="1100" dirty="0"/>
          </a:p>
        </p:txBody>
      </p:sp>
      <p:sp>
        <p:nvSpPr>
          <p:cNvPr id="16" name="Shape 14"/>
          <p:cNvSpPr/>
          <p:nvPr/>
        </p:nvSpPr>
        <p:spPr>
          <a:xfrm>
            <a:off x="6995160" y="1371600"/>
            <a:ext cx="1920240" cy="1645920"/>
          </a:xfrm>
          <a:prstGeom prst="roundRect">
            <a:avLst>
              <a:gd name="adj" fmla="val 6667"/>
            </a:avLst>
          </a:prstGeom>
          <a:solidFill>
            <a:srgbClr val="F8F9FA"/>
          </a:solidFill>
          <a:ln/>
          <a:effectLst>
            <a:outerShdw sx="100000" sy="100000" kx="0" ky="0" algn="bl" rotWithShape="0" blurRad="50800" dist="12700" dir="16200000">
              <a:srgbClr val="000000">
                <a:alpha val="8000"/>
              </a:srgbClr>
            </a:outerShdw>
          </a:effectLst>
        </p:spPr>
      </p:sp>
      <p:sp>
        <p:nvSpPr>
          <p:cNvPr id="17" name="Text 15"/>
          <p:cNvSpPr txBox="1"/>
          <p:nvPr/>
        </p:nvSpPr>
        <p:spPr>
          <a:xfrm>
            <a:off x="6995160" y="1463040"/>
            <a:ext cx="1920240" cy="640080"/>
          </a:xfrm>
          <a:prstGeom prst="rect">
            <a:avLst/>
          </a:prstGeom>
          <a:noFill/>
          <a:ln/>
        </p:spPr>
        <p:txBody>
          <a:bodyPr wrap="square" lIns="0" tIns="0" rIns="0" bIns="0" rtlCol="0" anchor="ctr"/>
          <a:lstStyle/>
          <a:p>
            <a:pPr algn="ctr" indent="0" marL="0">
              <a:buNone/>
            </a:pPr>
            <a:r>
              <a:rPr lang="en-US" sz="4000" b="1" dirty="0">
                <a:solidFill>
                  <a:srgbClr val="1A73E8"/>
                </a:solidFill>
              </a:rPr>
              <a:t>0</a:t>
            </a:r>
            <a:endParaRPr lang="en-US" sz="4000" dirty="0"/>
          </a:p>
        </p:txBody>
      </p:sp>
      <p:sp>
        <p:nvSpPr>
          <p:cNvPr id="18" name="Text 16"/>
          <p:cNvSpPr txBox="1"/>
          <p:nvPr/>
        </p:nvSpPr>
        <p:spPr>
          <a:xfrm>
            <a:off x="6995160" y="2103120"/>
            <a:ext cx="1920240" cy="548640"/>
          </a:xfrm>
          <a:prstGeom prst="rect">
            <a:avLst/>
          </a:prstGeom>
          <a:noFill/>
          <a:ln/>
        </p:spPr>
        <p:txBody>
          <a:bodyPr wrap="square" lIns="0" tIns="0" rIns="0" bIns="0" rtlCol="0" anchor="ctr"/>
          <a:lstStyle/>
          <a:p>
            <a:pPr algn="ctr" indent="0" marL="0">
              <a:buNone/>
            </a:pPr>
            <a:r>
              <a:rPr lang="en-US" sz="1300" b="1" dirty="0">
                <a:solidFill>
                  <a:srgbClr val="202124"/>
                </a:solidFill>
              </a:rPr>
              <a:t>Missed</a:t>
            </a:r>
            <a:endParaRPr lang="en-US" sz="1300" dirty="0"/>
          </a:p>
          <a:p>
            <a:pPr algn="ctr" indent="0" marL="0">
              <a:buNone/>
            </a:pPr>
            <a:r>
              <a:rPr lang="en-US" sz="1300" b="1" dirty="0">
                <a:solidFill>
                  <a:srgbClr val="202124"/>
                </a:solidFill>
              </a:rPr>
              <a:t>Answers</a:t>
            </a:r>
            <a:endParaRPr lang="en-US" sz="1300" dirty="0"/>
          </a:p>
        </p:txBody>
      </p:sp>
      <p:sp>
        <p:nvSpPr>
          <p:cNvPr id="19" name="Text 17"/>
          <p:cNvSpPr txBox="1"/>
          <p:nvPr/>
        </p:nvSpPr>
        <p:spPr>
          <a:xfrm>
            <a:off x="6995160" y="2606040"/>
            <a:ext cx="1920240" cy="320040"/>
          </a:xfrm>
          <a:prstGeom prst="rect">
            <a:avLst/>
          </a:prstGeom>
          <a:noFill/>
          <a:ln/>
        </p:spPr>
        <p:txBody>
          <a:bodyPr wrap="square" lIns="0" tIns="0" rIns="0" bIns="0" rtlCol="0" anchor="ctr"/>
          <a:lstStyle/>
          <a:p>
            <a:pPr algn="ctr" indent="0" marL="0">
              <a:buNone/>
            </a:pPr>
            <a:r>
              <a:rPr lang="en-US" sz="1100" dirty="0">
                <a:solidFill>
                  <a:srgbClr val="5F6368"/>
                </a:solidFill>
              </a:rPr>
              <a:t>down from 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8046720" cy="914400"/>
        </p:xfrm>
        <a:graphic>
          <a:graphicData uri="http://schemas.openxmlformats.org/drawingml/2006/table">
            <a:tbl>
              <a:tblPr/>
              <a:tblGrid>
                <a:gridCol w="2286000"/>
                <a:gridCol w="1463040"/>
                <a:gridCol w="1463040"/>
                <a:gridCol w="1371600"/>
                <a:gridCol w="1463040"/>
              </a:tblGrid>
              <a:tr h="365760">
                <a:tc>
                  <a:txBody>
                    <a:bodyPr/>
                    <a:lstStyle/>
                    <a:p>
                      <a:pPr indent="0" marL="0">
                        <a:buNone/>
                      </a:pPr>
                      <a:r>
                        <a:rPr lang="en-US" sz="1200" b="1" dirty="0">
                          <a:solidFill>
                            <a:srgbClr val="FFFFFF"/>
                          </a:solidFill>
                        </a:rPr>
                        <a:t>Mode</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02124"/>
                    </a:solidFill>
                  </a:tcPr>
                </a:tc>
                <a:tc>
                  <a:txBody>
                    <a:bodyPr/>
                    <a:lstStyle/>
                    <a:p>
                      <a:pPr indent="0" marL="0">
                        <a:buNone/>
                      </a:pPr>
                      <a:r>
                        <a:rPr lang="en-US" sz="1200" b="1" dirty="0">
                          <a:solidFill>
                            <a:srgbClr val="FFFFFF"/>
                          </a:solidFill>
                        </a:rPr>
                        <a:t>Correct (of 24)</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02124"/>
                    </a:solidFill>
                  </a:tcPr>
                </a:tc>
                <a:tc>
                  <a:txBody>
                    <a:bodyPr/>
                    <a:lstStyle/>
                    <a:p>
                      <a:pPr indent="0" marL="0">
                        <a:buNone/>
                      </a:pPr>
                      <a:r>
                        <a:rPr lang="en-US" sz="1200" b="1" dirty="0">
                          <a:solidFill>
                            <a:srgbClr val="FFFFFF"/>
                          </a:solidFill>
                        </a:rPr>
                        <a:t>Abstain (of 8)</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02124"/>
                    </a:solidFill>
                  </a:tcPr>
                </a:tc>
                <a:tc>
                  <a:txBody>
                    <a:bodyPr/>
                    <a:lstStyle/>
                    <a:p>
                      <a:pPr indent="0" marL="0">
                        <a:buNone/>
                      </a:pPr>
                      <a:r>
                        <a:rPr lang="en-US" sz="1200" b="1" dirty="0">
                          <a:solidFill>
                            <a:srgbClr val="FFFFFF"/>
                          </a:solidFill>
                        </a:rPr>
                        <a:t>Wrong</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02124"/>
                    </a:solidFill>
                  </a:tcPr>
                </a:tc>
                <a:tc>
                  <a:txBody>
                    <a:bodyPr/>
                    <a:lstStyle/>
                    <a:p>
                      <a:pPr indent="0" marL="0">
                        <a:buNone/>
                      </a:pPr>
                      <a:r>
                        <a:rPr lang="en-US" sz="1200" b="1" dirty="0">
                          <a:solidFill>
                            <a:srgbClr val="FFFFFF"/>
                          </a:solidFill>
                        </a:rPr>
                        <a:t>Missed</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02124"/>
                    </a:solidFill>
                  </a:tcPr>
                </a:tc>
              </a:tr>
              <a:tr h="365760">
                <a:tc>
                  <a:txBody>
                    <a:bodyPr/>
                    <a:lstStyle/>
                    <a:p>
                      <a:pPr indent="0" marL="0">
                        <a:buNone/>
                      </a:pPr>
                      <a:r>
                        <a:rPr lang="en-US" sz="1200" dirty="0">
                          <a:solidFill>
                            <a:srgbClr val="202124"/>
                          </a:solidFill>
                        </a:rPr>
                        <a:t>Gemini, raw evidence</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dirty="0">
                          <a:solidFill>
                            <a:srgbClr val="202124"/>
                          </a:solidFill>
                        </a:rPr>
                        <a:t>19</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dirty="0">
                          <a:solidFill>
                            <a:srgbClr val="202124"/>
                          </a:solidFill>
                        </a:rPr>
                        <a:t>8</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1E8E3E"/>
                          </a:solidFill>
                        </a:rPr>
                        <a:t>0</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D93025"/>
                          </a:solidFill>
                        </a:rPr>
                        <a:t>5</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365760">
                <a:tc>
                  <a:txBody>
                    <a:bodyPr/>
                    <a:lstStyle/>
                    <a:p>
                      <a:pPr indent="0" marL="0">
                        <a:buNone/>
                      </a:pPr>
                      <a:r>
                        <a:rPr lang="en-US" sz="1200" b="1" dirty="0">
                          <a:solidFill>
                            <a:srgbClr val="202124"/>
                          </a:solidFill>
                        </a:rPr>
                        <a:t>Gemini + reconciliation</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1A73E8"/>
                          </a:solidFill>
                        </a:rPr>
                        <a:t>24</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202124"/>
                          </a:solidFill>
                        </a:rPr>
                        <a:t>8</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1E8E3E"/>
                          </a:solidFill>
                        </a:rPr>
                        <a:t>0</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200" b="1" dirty="0">
                          <a:solidFill>
                            <a:srgbClr val="1E8E3E"/>
                          </a:solidFill>
                        </a:rPr>
                        <a:t>0</a:t>
                      </a:r>
                      <a:endParaRPr lang="en-US" sz="12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FFFFFF"/>
                </a:solidFill>
              </a:rPr>
              <a:t>Recovery-Action Validity</a:t>
            </a:r>
            <a:endParaRPr lang="en-US" sz="3600" dirty="0"/>
          </a:p>
        </p:txBody>
      </p:sp>
      <p:sp>
        <p:nvSpPr>
          <p:cNvPr id="3" name="Text 1"/>
          <p:cNvSpPr txBox="1"/>
          <p:nvPr/>
        </p:nvSpPr>
        <p:spPr>
          <a:xfrm>
            <a:off x="548640" y="868680"/>
            <a:ext cx="8046720" cy="365760"/>
          </a:xfrm>
          <a:prstGeom prst="rect">
            <a:avLst/>
          </a:prstGeom>
          <a:noFill/>
          <a:ln/>
        </p:spPr>
        <p:txBody>
          <a:bodyPr wrap="square" lIns="0" tIns="0" rIns="0" bIns="0" rtlCol="0" anchor="ctr"/>
          <a:lstStyle/>
          <a:p>
            <a:pPr indent="0" marL="0">
              <a:buNone/>
            </a:pPr>
            <a:r>
              <a:rPr lang="en-US" sz="1400" dirty="0">
                <a:solidFill>
                  <a:srgbClr val="9AA0A6"/>
                </a:solidFill>
              </a:rPr>
              <a:t>Closing the R2Act gap: valid recovery actions from reconstructed state</a:t>
            </a:r>
            <a:endParaRPr lang="en-US" sz="1400" dirty="0"/>
          </a:p>
        </p:txBody>
      </p:sp>
      <p:sp>
        <p:nvSpPr>
          <p:cNvPr id="4" name="Shape 2"/>
          <p:cNvSpPr/>
          <p:nvPr/>
        </p:nvSpPr>
        <p:spPr>
          <a:xfrm>
            <a:off x="548640" y="1463040"/>
            <a:ext cx="3840480" cy="2926080"/>
          </a:xfrm>
          <a:prstGeom prst="roundRect">
            <a:avLst>
              <a:gd name="adj" fmla="val 4688"/>
            </a:avLst>
          </a:prstGeom>
          <a:solidFill>
            <a:srgbClr val="2D2D30"/>
          </a:solidFill>
          <a:ln/>
        </p:spPr>
      </p:sp>
      <p:sp>
        <p:nvSpPr>
          <p:cNvPr id="5" name="Text 3"/>
          <p:cNvSpPr txBox="1"/>
          <p:nvPr/>
        </p:nvSpPr>
        <p:spPr>
          <a:xfrm>
            <a:off x="822960" y="1645920"/>
            <a:ext cx="3291840" cy="365760"/>
          </a:xfrm>
          <a:prstGeom prst="rect">
            <a:avLst/>
          </a:prstGeom>
          <a:noFill/>
          <a:ln/>
        </p:spPr>
        <p:txBody>
          <a:bodyPr wrap="square" lIns="0" tIns="0" rIns="0" bIns="0" rtlCol="0" anchor="ctr"/>
          <a:lstStyle/>
          <a:p>
            <a:pPr indent="0" marL="0">
              <a:buNone/>
            </a:pPr>
            <a:r>
              <a:rPr lang="en-US" sz="1600" b="1" dirty="0">
                <a:solidFill>
                  <a:srgbClr val="FFFFFF"/>
                </a:solidFill>
              </a:rPr>
              <a:t>Naive (always rollback)</a:t>
            </a:r>
            <a:endParaRPr lang="en-US" sz="1600" dirty="0"/>
          </a:p>
        </p:txBody>
      </p:sp>
      <p:sp>
        <p:nvSpPr>
          <p:cNvPr id="6" name="Text 4"/>
          <p:cNvSpPr txBox="1"/>
          <p:nvPr/>
        </p:nvSpPr>
        <p:spPr>
          <a:xfrm>
            <a:off x="822960" y="2103120"/>
            <a:ext cx="3291840" cy="822960"/>
          </a:xfrm>
          <a:prstGeom prst="rect">
            <a:avLst/>
          </a:prstGeom>
          <a:noFill/>
          <a:ln/>
        </p:spPr>
        <p:txBody>
          <a:bodyPr wrap="square" lIns="0" tIns="0" rIns="0" bIns="0" rtlCol="0" anchor="ctr"/>
          <a:lstStyle/>
          <a:p>
            <a:pPr algn="ctr" indent="0" marL="0">
              <a:buNone/>
            </a:pPr>
            <a:r>
              <a:rPr lang="en-US" sz="5600" b="1" dirty="0">
                <a:solidFill>
                  <a:srgbClr val="D93025"/>
                </a:solidFill>
              </a:rPr>
              <a:t>43.8%</a:t>
            </a:r>
            <a:endParaRPr lang="en-US" sz="5600" dirty="0"/>
          </a:p>
        </p:txBody>
      </p:sp>
      <p:sp>
        <p:nvSpPr>
          <p:cNvPr id="7" name="Text 5"/>
          <p:cNvSpPr txBox="1"/>
          <p:nvPr/>
        </p:nvSpPr>
        <p:spPr>
          <a:xfrm>
            <a:off x="822960" y="2926080"/>
            <a:ext cx="3291840" cy="365760"/>
          </a:xfrm>
          <a:prstGeom prst="rect">
            <a:avLst/>
          </a:prstGeom>
          <a:noFill/>
          <a:ln/>
        </p:spPr>
        <p:txBody>
          <a:bodyPr wrap="square" lIns="0" tIns="0" rIns="0" bIns="0" rtlCol="0" anchor="ctr"/>
          <a:lstStyle/>
          <a:p>
            <a:pPr algn="ctr" indent="0" marL="0">
              <a:buNone/>
            </a:pPr>
            <a:r>
              <a:rPr lang="en-US" sz="1400" dirty="0">
                <a:solidFill>
                  <a:srgbClr val="9AA0A6"/>
                </a:solidFill>
              </a:rPr>
              <a:t>invalid actions</a:t>
            </a:r>
            <a:endParaRPr lang="en-US" sz="1400" dirty="0"/>
          </a:p>
        </p:txBody>
      </p:sp>
      <p:sp>
        <p:nvSpPr>
          <p:cNvPr id="8" name="Text 6"/>
          <p:cNvSpPr txBox="1"/>
          <p:nvPr/>
        </p:nvSpPr>
        <p:spPr>
          <a:xfrm>
            <a:off x="822960" y="3383280"/>
            <a:ext cx="3291840" cy="731520"/>
          </a:xfrm>
          <a:prstGeom prst="rect">
            <a:avLst/>
          </a:prstGeom>
          <a:noFill/>
          <a:ln/>
        </p:spPr>
        <p:txBody>
          <a:bodyPr wrap="square" lIns="0" tIns="0" rIns="0" bIns="0" rtlCol="0" anchor="ctr"/>
          <a:lstStyle/>
          <a:p>
            <a:pPr indent="0" marL="0">
              <a:buNone/>
            </a:pPr>
            <a:r>
              <a:rPr lang="en-US" sz="1200" dirty="0">
                <a:solidFill>
                  <a:srgbClr val="5F6368"/>
                </a:solidFill>
              </a:rPr>
              <a:t>18 of 32 scenarios had valid actions</a:t>
            </a:r>
            <a:endParaRPr lang="en-US" sz="1200" dirty="0"/>
          </a:p>
          <a:p>
            <a:pPr indent="0" marL="0">
              <a:buNone/>
            </a:pPr>
            <a:r>
              <a:rPr lang="en-US" sz="1200" dirty="0">
                <a:solidFill>
                  <a:srgbClr val="5F6368"/>
                </a:solidFill>
              </a:rPr>
              <a:t>Falls within R2Act range (39.5%-62%)</a:t>
            </a:r>
            <a:endParaRPr lang="en-US" sz="1200" dirty="0"/>
          </a:p>
        </p:txBody>
      </p:sp>
      <p:sp>
        <p:nvSpPr>
          <p:cNvPr id="9" name="Shape 7"/>
          <p:cNvSpPr/>
          <p:nvPr/>
        </p:nvSpPr>
        <p:spPr>
          <a:xfrm>
            <a:off x="4754880" y="1463040"/>
            <a:ext cx="3840480" cy="2926080"/>
          </a:xfrm>
          <a:prstGeom prst="roundRect">
            <a:avLst>
              <a:gd name="adj" fmla="val 4688"/>
            </a:avLst>
          </a:prstGeom>
          <a:solidFill>
            <a:srgbClr val="0D3B1A"/>
          </a:solidFill>
          <a:ln/>
        </p:spPr>
      </p:sp>
      <p:sp>
        <p:nvSpPr>
          <p:cNvPr id="10" name="Text 8"/>
          <p:cNvSpPr txBox="1"/>
          <p:nvPr/>
        </p:nvSpPr>
        <p:spPr>
          <a:xfrm>
            <a:off x="5029200" y="1645920"/>
            <a:ext cx="3291840" cy="365760"/>
          </a:xfrm>
          <a:prstGeom prst="rect">
            <a:avLst/>
          </a:prstGeom>
          <a:noFill/>
          <a:ln/>
        </p:spPr>
        <p:txBody>
          <a:bodyPr wrap="square" lIns="0" tIns="0" rIns="0" bIns="0" rtlCol="0" anchor="ctr"/>
          <a:lstStyle/>
          <a:p>
            <a:pPr indent="0" marL="0">
              <a:buNone/>
            </a:pPr>
            <a:r>
              <a:rPr lang="en-US" sz="1600" b="1" dirty="0">
                <a:solidFill>
                  <a:srgbClr val="FFFFFF"/>
                </a:solidFill>
              </a:rPr>
              <a:t>Metis (reconciled state)</a:t>
            </a:r>
            <a:endParaRPr lang="en-US" sz="1600" dirty="0"/>
          </a:p>
        </p:txBody>
      </p:sp>
      <p:sp>
        <p:nvSpPr>
          <p:cNvPr id="11" name="Text 9"/>
          <p:cNvSpPr txBox="1"/>
          <p:nvPr/>
        </p:nvSpPr>
        <p:spPr>
          <a:xfrm>
            <a:off x="5029200" y="2103120"/>
            <a:ext cx="3291840" cy="822960"/>
          </a:xfrm>
          <a:prstGeom prst="rect">
            <a:avLst/>
          </a:prstGeom>
          <a:noFill/>
          <a:ln/>
        </p:spPr>
        <p:txBody>
          <a:bodyPr wrap="square" lIns="0" tIns="0" rIns="0" bIns="0" rtlCol="0" anchor="ctr"/>
          <a:lstStyle/>
          <a:p>
            <a:pPr algn="ctr" indent="0" marL="0">
              <a:buNone/>
            </a:pPr>
            <a:r>
              <a:rPr lang="en-US" sz="5600" b="1" dirty="0">
                <a:solidFill>
                  <a:srgbClr val="1E8E3E"/>
                </a:solidFill>
              </a:rPr>
              <a:t>0%</a:t>
            </a:r>
            <a:endParaRPr lang="en-US" sz="5600" dirty="0"/>
          </a:p>
        </p:txBody>
      </p:sp>
      <p:sp>
        <p:nvSpPr>
          <p:cNvPr id="12" name="Text 10"/>
          <p:cNvSpPr txBox="1"/>
          <p:nvPr/>
        </p:nvSpPr>
        <p:spPr>
          <a:xfrm>
            <a:off x="5029200" y="2926080"/>
            <a:ext cx="3291840" cy="365760"/>
          </a:xfrm>
          <a:prstGeom prst="rect">
            <a:avLst/>
          </a:prstGeom>
          <a:noFill/>
          <a:ln/>
        </p:spPr>
        <p:txBody>
          <a:bodyPr wrap="square" lIns="0" tIns="0" rIns="0" bIns="0" rtlCol="0" anchor="ctr"/>
          <a:lstStyle/>
          <a:p>
            <a:pPr algn="ctr" indent="0" marL="0">
              <a:buNone/>
            </a:pPr>
            <a:r>
              <a:rPr lang="en-US" sz="1400" dirty="0">
                <a:solidFill>
                  <a:srgbClr val="CEEAD6"/>
                </a:solidFill>
              </a:rPr>
              <a:t>invalid actions</a:t>
            </a:r>
            <a:endParaRPr lang="en-US" sz="1400" dirty="0"/>
          </a:p>
        </p:txBody>
      </p:sp>
      <p:sp>
        <p:nvSpPr>
          <p:cNvPr id="13" name="Text 11"/>
          <p:cNvSpPr txBox="1"/>
          <p:nvPr/>
        </p:nvSpPr>
        <p:spPr>
          <a:xfrm>
            <a:off x="5029200" y="3383280"/>
            <a:ext cx="3291840" cy="731520"/>
          </a:xfrm>
          <a:prstGeom prst="rect">
            <a:avLst/>
          </a:prstGeom>
          <a:noFill/>
          <a:ln/>
        </p:spPr>
        <p:txBody>
          <a:bodyPr wrap="square" lIns="0" tIns="0" rIns="0" bIns="0" rtlCol="0" anchor="ctr"/>
          <a:lstStyle/>
          <a:p>
            <a:pPr indent="0" marL="0">
              <a:buNone/>
            </a:pPr>
            <a:r>
              <a:rPr lang="en-US" sz="1200" dirty="0">
                <a:solidFill>
                  <a:srgbClr val="81C995"/>
                </a:solidFill>
              </a:rPr>
              <a:t>32 of 32 scenarios had valid actions</a:t>
            </a:r>
            <a:endParaRPr lang="en-US" sz="1200" dirty="0"/>
          </a:p>
          <a:p>
            <a:pPr indent="0" marL="0">
              <a:buNone/>
            </a:pPr>
            <a:r>
              <a:rPr lang="en-US" sz="1200" dirty="0">
                <a:solidFill>
                  <a:srgbClr val="81C995"/>
                </a:solidFill>
              </a:rPr>
              <a:t>Deterministic, no LLM needed for recovery</a:t>
            </a:r>
            <a:endParaRPr lang="en-US" sz="12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Material Design 3 Interface</a:t>
            </a:r>
            <a:endParaRPr lang="en-US" sz="3600" dirty="0"/>
          </a:p>
        </p:txBody>
      </p:sp>
      <p:sp>
        <p:nvSpPr>
          <p:cNvPr id="3" name="Shape 1"/>
          <p:cNvSpPr/>
          <p:nvPr/>
        </p:nvSpPr>
        <p:spPr>
          <a:xfrm>
            <a:off x="548640" y="109728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4" name="Text 2"/>
          <p:cNvSpPr txBox="1"/>
          <p:nvPr/>
        </p:nvSpPr>
        <p:spPr>
          <a:xfrm>
            <a:off x="685800" y="123444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M3 Tonal Color System</a:t>
            </a:r>
            <a:endParaRPr lang="en-US" sz="1400" dirty="0"/>
          </a:p>
        </p:txBody>
      </p:sp>
      <p:sp>
        <p:nvSpPr>
          <p:cNvPr id="5" name="Text 3"/>
          <p:cNvSpPr txBox="1"/>
          <p:nvPr/>
        </p:nvSpPr>
        <p:spPr>
          <a:xfrm>
            <a:off x="685800" y="1645920"/>
            <a:ext cx="2286000" cy="731520"/>
          </a:xfrm>
          <a:prstGeom prst="rect">
            <a:avLst/>
          </a:prstGeom>
          <a:noFill/>
          <a:ln/>
        </p:spPr>
        <p:txBody>
          <a:bodyPr wrap="square" lIns="0" tIns="0" rIns="0" bIns="0" rtlCol="0" anchor="ctr"/>
          <a:lstStyle/>
          <a:p>
            <a:pPr indent="0" marL="0">
              <a:buNone/>
            </a:pPr>
            <a:r>
              <a:rPr lang="en-US" sz="1200" dirty="0">
                <a:solidFill>
                  <a:srgbClr val="5F6368"/>
                </a:solidFill>
              </a:rPr>
              <a:t>Google's Material Design 3 palette with proper container/on-container roles</a:t>
            </a:r>
            <a:endParaRPr lang="en-US" sz="1200" dirty="0"/>
          </a:p>
        </p:txBody>
      </p:sp>
      <p:sp>
        <p:nvSpPr>
          <p:cNvPr id="6" name="Shape 4"/>
          <p:cNvSpPr/>
          <p:nvPr/>
        </p:nvSpPr>
        <p:spPr>
          <a:xfrm>
            <a:off x="3383280" y="109728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7" name="Text 5"/>
          <p:cNvSpPr txBox="1"/>
          <p:nvPr/>
        </p:nvSpPr>
        <p:spPr>
          <a:xfrm>
            <a:off x="3520440" y="123444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Google Sans Typography</a:t>
            </a:r>
            <a:endParaRPr lang="en-US" sz="1400" dirty="0"/>
          </a:p>
        </p:txBody>
      </p:sp>
      <p:sp>
        <p:nvSpPr>
          <p:cNvPr id="8" name="Text 6"/>
          <p:cNvSpPr txBox="1"/>
          <p:nvPr/>
        </p:nvSpPr>
        <p:spPr>
          <a:xfrm>
            <a:off x="3520440" y="1645920"/>
            <a:ext cx="2286000" cy="731520"/>
          </a:xfrm>
          <a:prstGeom prst="rect">
            <a:avLst/>
          </a:prstGeom>
          <a:noFill/>
          <a:ln/>
        </p:spPr>
        <p:txBody>
          <a:bodyPr wrap="square" lIns="0" tIns="0" rIns="0" bIns="0" rtlCol="0" anchor="ctr"/>
          <a:lstStyle/>
          <a:p>
            <a:pPr indent="0" marL="0">
              <a:buNone/>
            </a:pPr>
            <a:r>
              <a:rPr lang="en-US" sz="1200" dirty="0">
                <a:solidFill>
                  <a:srgbClr val="5F6368"/>
                </a:solidFill>
              </a:rPr>
              <a:t>Native Google font stack with Roboto Mono for code</a:t>
            </a:r>
            <a:endParaRPr lang="en-US" sz="1200" dirty="0"/>
          </a:p>
        </p:txBody>
      </p:sp>
      <p:sp>
        <p:nvSpPr>
          <p:cNvPr id="9" name="Shape 7"/>
          <p:cNvSpPr/>
          <p:nvPr/>
        </p:nvSpPr>
        <p:spPr>
          <a:xfrm>
            <a:off x="6217920" y="109728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10" name="Text 8"/>
          <p:cNvSpPr txBox="1"/>
          <p:nvPr/>
        </p:nvSpPr>
        <p:spPr>
          <a:xfrm>
            <a:off x="6355080" y="123444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Interactive Composer</a:t>
            </a:r>
            <a:endParaRPr lang="en-US" sz="1400" dirty="0"/>
          </a:p>
        </p:txBody>
      </p:sp>
      <p:sp>
        <p:nvSpPr>
          <p:cNvPr id="11" name="Text 9"/>
          <p:cNvSpPr txBox="1"/>
          <p:nvPr/>
        </p:nvSpPr>
        <p:spPr>
          <a:xfrm>
            <a:off x="6355080" y="1645920"/>
            <a:ext cx="2286000" cy="731520"/>
          </a:xfrm>
          <a:prstGeom prst="rect">
            <a:avLst/>
          </a:prstGeom>
          <a:noFill/>
          <a:ln/>
        </p:spPr>
        <p:txBody>
          <a:bodyPr wrap="square" lIns="0" tIns="0" rIns="0" bIns="0" rtlCol="0" anchor="ctr"/>
          <a:lstStyle/>
          <a:p>
            <a:pPr indent="0" marL="0">
              <a:buNone/>
            </a:pPr>
            <a:r>
              <a:rPr lang="en-US" sz="1200" dirty="0">
                <a:solidFill>
                  <a:srgbClr val="5F6368"/>
                </a:solidFill>
              </a:rPr>
              <a:t>Build custom incidents and watch the full pipeline run live</a:t>
            </a:r>
            <a:endParaRPr lang="en-US" sz="1200" dirty="0"/>
          </a:p>
        </p:txBody>
      </p:sp>
      <p:sp>
        <p:nvSpPr>
          <p:cNvPr id="12" name="Shape 10"/>
          <p:cNvSpPr/>
          <p:nvPr/>
        </p:nvSpPr>
        <p:spPr>
          <a:xfrm>
            <a:off x="548640" y="283464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13" name="Text 11"/>
          <p:cNvSpPr txBox="1"/>
          <p:nvPr/>
        </p:nvSpPr>
        <p:spPr>
          <a:xfrm>
            <a:off x="685800" y="297180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4 Built-in Scenarios</a:t>
            </a:r>
            <a:endParaRPr lang="en-US" sz="1400" dirty="0"/>
          </a:p>
        </p:txBody>
      </p:sp>
      <p:sp>
        <p:nvSpPr>
          <p:cNvPr id="14" name="Text 12"/>
          <p:cNvSpPr txBox="1"/>
          <p:nvPr/>
        </p:nvSpPr>
        <p:spPr>
          <a:xfrm>
            <a:off x="685800" y="3383280"/>
            <a:ext cx="2286000" cy="731520"/>
          </a:xfrm>
          <a:prstGeom prst="rect">
            <a:avLst/>
          </a:prstGeom>
          <a:noFill/>
          <a:ln/>
        </p:spPr>
        <p:txBody>
          <a:bodyPr wrap="square" lIns="0" tIns="0" rIns="0" bIns="0" rtlCol="0" anchor="ctr"/>
          <a:lstStyle/>
          <a:p>
            <a:pPr indent="0" marL="0">
              <a:buNone/>
            </a:pPr>
            <a:r>
              <a:rPr lang="en-US" sz="1200" dirty="0">
                <a:solidFill>
                  <a:srgbClr val="5F6368"/>
                </a:solidFill>
              </a:rPr>
              <a:t>Undeployed fix, record disagreement, late arrival, hostile input</a:t>
            </a:r>
            <a:endParaRPr lang="en-US" sz="1200" dirty="0"/>
          </a:p>
        </p:txBody>
      </p:sp>
      <p:sp>
        <p:nvSpPr>
          <p:cNvPr id="15" name="Shape 13"/>
          <p:cNvSpPr/>
          <p:nvPr/>
        </p:nvSpPr>
        <p:spPr>
          <a:xfrm>
            <a:off x="3383280" y="283464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16" name="Text 14"/>
          <p:cNvSpPr txBox="1"/>
          <p:nvPr/>
        </p:nvSpPr>
        <p:spPr>
          <a:xfrm>
            <a:off x="3520440" y="297180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Time Travel</a:t>
            </a:r>
            <a:endParaRPr lang="en-US" sz="1400" dirty="0"/>
          </a:p>
        </p:txBody>
      </p:sp>
      <p:sp>
        <p:nvSpPr>
          <p:cNvPr id="17" name="Text 15"/>
          <p:cNvSpPr txBox="1"/>
          <p:nvPr/>
        </p:nvSpPr>
        <p:spPr>
          <a:xfrm>
            <a:off x="3520440" y="3383280"/>
            <a:ext cx="2286000" cy="731520"/>
          </a:xfrm>
          <a:prstGeom prst="rect">
            <a:avLst/>
          </a:prstGeom>
          <a:noFill/>
          <a:ln/>
        </p:spPr>
        <p:txBody>
          <a:bodyPr wrap="square" lIns="0" tIns="0" rIns="0" bIns="0" rtlCol="0" anchor="ctr"/>
          <a:lstStyle/>
          <a:p>
            <a:pPr indent="0" marL="0">
              <a:buNone/>
            </a:pPr>
            <a:r>
              <a:rPr lang="en-US" sz="1200" dirty="0">
                <a:solidFill>
                  <a:srgbClr val="5F6368"/>
                </a:solidFill>
              </a:rPr>
              <a:t>See what was known 30 min before, at, and 30 min after the incident</a:t>
            </a:r>
            <a:endParaRPr lang="en-US" sz="1200" dirty="0"/>
          </a:p>
        </p:txBody>
      </p:sp>
      <p:sp>
        <p:nvSpPr>
          <p:cNvPr id="18" name="Shape 16"/>
          <p:cNvSpPr/>
          <p:nvPr/>
        </p:nvSpPr>
        <p:spPr>
          <a:xfrm>
            <a:off x="6217920" y="2834640"/>
            <a:ext cx="2560320" cy="1463040"/>
          </a:xfrm>
          <a:prstGeom prst="roundRect">
            <a:avLst>
              <a:gd name="adj" fmla="val 7500"/>
            </a:avLst>
          </a:prstGeom>
          <a:solidFill>
            <a:srgbClr val="F8F9FA"/>
          </a:solidFill>
          <a:ln/>
          <a:effectLst>
            <a:outerShdw sx="100000" sy="100000" kx="0" ky="0" algn="bl" rotWithShape="0" blurRad="50800" dist="12700" dir="16200000">
              <a:srgbClr val="000000">
                <a:alpha val="8000"/>
              </a:srgbClr>
            </a:outerShdw>
          </a:effectLst>
        </p:spPr>
      </p:sp>
      <p:sp>
        <p:nvSpPr>
          <p:cNvPr id="19" name="Text 17"/>
          <p:cNvSpPr txBox="1"/>
          <p:nvPr/>
        </p:nvSpPr>
        <p:spPr>
          <a:xfrm>
            <a:off x="6355080" y="2971800"/>
            <a:ext cx="2286000" cy="411480"/>
          </a:xfrm>
          <a:prstGeom prst="rect">
            <a:avLst/>
          </a:prstGeom>
          <a:noFill/>
          <a:ln/>
        </p:spPr>
        <p:txBody>
          <a:bodyPr wrap="square" lIns="0" tIns="0" rIns="0" bIns="0" rtlCol="0" anchor="ctr"/>
          <a:lstStyle/>
          <a:p>
            <a:pPr indent="0" marL="0">
              <a:buNone/>
            </a:pPr>
            <a:r>
              <a:rPr lang="en-US" sz="1400" b="1" dirty="0">
                <a:solidFill>
                  <a:srgbClr val="1A73E8"/>
                </a:solidFill>
              </a:rPr>
              <a:t>Gemini Integration</a:t>
            </a:r>
            <a:endParaRPr lang="en-US" sz="1400" dirty="0"/>
          </a:p>
        </p:txBody>
      </p:sp>
      <p:sp>
        <p:nvSpPr>
          <p:cNvPr id="20" name="Text 18"/>
          <p:cNvSpPr txBox="1"/>
          <p:nvPr/>
        </p:nvSpPr>
        <p:spPr>
          <a:xfrm>
            <a:off x="6355080" y="3383280"/>
            <a:ext cx="2286000" cy="731520"/>
          </a:xfrm>
          <a:prstGeom prst="rect">
            <a:avLst/>
          </a:prstGeom>
          <a:noFill/>
          <a:ln/>
        </p:spPr>
        <p:txBody>
          <a:bodyPr wrap="square" lIns="0" tIns="0" rIns="0" bIns="0" rtlCol="0" anchor="ctr"/>
          <a:lstStyle/>
          <a:p>
            <a:pPr indent="0" marL="0">
              <a:buNone/>
            </a:pPr>
            <a:r>
              <a:rPr lang="en-US" sz="1200" dirty="0">
                <a:solidFill>
                  <a:srgbClr val="5F6368"/>
                </a:solidFill>
              </a:rPr>
              <a:t>Three investigation modes: deterministic, raw, and full pipeline</a:t>
            </a:r>
            <a:endParaRPr lang="en-US" sz="12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046720" cy="640080"/>
          </a:xfrm>
          <a:prstGeom prst="rect">
            <a:avLst/>
          </a:prstGeom>
          <a:noFill/>
          <a:ln/>
        </p:spPr>
        <p:txBody>
          <a:bodyPr wrap="square" lIns="0" tIns="0" rIns="0" bIns="0" rtlCol="0" anchor="ctr"/>
          <a:lstStyle/>
          <a:p>
            <a:pPr indent="0" marL="0">
              <a:buNone/>
            </a:pPr>
            <a:r>
              <a:rPr lang="en-US" sz="3600" b="1" dirty="0">
                <a:solidFill>
                  <a:srgbClr val="202124"/>
                </a:solidFill>
              </a:rPr>
              <a:t>Honest Limitations</a:t>
            </a:r>
            <a:endParaRPr lang="en-US" sz="3600" dirty="0"/>
          </a:p>
        </p:txBody>
      </p:sp>
      <p:sp>
        <p:nvSpPr>
          <p:cNvPr id="3" name="Text 1"/>
          <p:cNvSpPr txBox="1"/>
          <p:nvPr/>
        </p:nvSpPr>
        <p:spPr>
          <a:xfrm>
            <a:off x="548640" y="868680"/>
            <a:ext cx="8046720" cy="365760"/>
          </a:xfrm>
          <a:prstGeom prst="rect">
            <a:avLst/>
          </a:prstGeom>
          <a:noFill/>
          <a:ln/>
        </p:spPr>
        <p:txBody>
          <a:bodyPr wrap="square" lIns="0" tIns="0" rIns="0" bIns="0" rtlCol="0" anchor="ctr"/>
          <a:lstStyle/>
          <a:p>
            <a:pPr indent="0" marL="0">
              <a:buNone/>
            </a:pPr>
            <a:r>
              <a:rPr lang="en-US" sz="1400" dirty="0">
                <a:solidFill>
                  <a:srgbClr val="5F6368"/>
                </a:solidFill>
              </a:rPr>
              <a:t>What we claim and what we do not</a:t>
            </a:r>
            <a:endParaRPr lang="en-US" sz="1400" dirty="0"/>
          </a:p>
        </p:txBody>
      </p:sp>
      <p:sp>
        <p:nvSpPr>
          <p:cNvPr id="4" name="Shape 2"/>
          <p:cNvSpPr/>
          <p:nvPr/>
        </p:nvSpPr>
        <p:spPr>
          <a:xfrm>
            <a:off x="548640" y="1417320"/>
            <a:ext cx="228600" cy="228600"/>
          </a:xfrm>
          <a:prstGeom prst="ellipse">
            <a:avLst/>
          </a:prstGeom>
          <a:solidFill>
            <a:srgbClr val="E37400"/>
          </a:solidFill>
          <a:ln/>
        </p:spPr>
      </p:sp>
      <p:sp>
        <p:nvSpPr>
          <p:cNvPr id="5" name="Text 3"/>
          <p:cNvSpPr txBox="1"/>
          <p:nvPr/>
        </p:nvSpPr>
        <p:spPr>
          <a:xfrm>
            <a:off x="1005840" y="1325880"/>
            <a:ext cx="7589520" cy="320040"/>
          </a:xfrm>
          <a:prstGeom prst="rect">
            <a:avLst/>
          </a:prstGeom>
          <a:noFill/>
          <a:ln/>
        </p:spPr>
        <p:txBody>
          <a:bodyPr wrap="square" lIns="0" tIns="0" rIns="0" bIns="0" rtlCol="0" anchor="ctr"/>
          <a:lstStyle/>
          <a:p>
            <a:pPr indent="0" marL="0">
              <a:buNone/>
            </a:pPr>
            <a:r>
              <a:rPr lang="en-US" sz="1400" b="1" dirty="0">
                <a:solidFill>
                  <a:srgbClr val="202124"/>
                </a:solidFill>
              </a:rPr>
              <a:t>We wrote the scenarios and the ground truth</a:t>
            </a:r>
            <a:endParaRPr lang="en-US" sz="1400" dirty="0"/>
          </a:p>
        </p:txBody>
      </p:sp>
      <p:sp>
        <p:nvSpPr>
          <p:cNvPr id="6" name="Text 4"/>
          <p:cNvSpPr txBox="1"/>
          <p:nvPr/>
        </p:nvSpPr>
        <p:spPr>
          <a:xfrm>
            <a:off x="1005840" y="1627632"/>
            <a:ext cx="7589520" cy="320040"/>
          </a:xfrm>
          <a:prstGeom prst="rect">
            <a:avLst/>
          </a:prstGeom>
          <a:noFill/>
          <a:ln/>
        </p:spPr>
        <p:txBody>
          <a:bodyPr wrap="square" lIns="0" tIns="0" rIns="0" bIns="0" rtlCol="0" anchor="ctr"/>
          <a:lstStyle/>
          <a:p>
            <a:pPr indent="0" marL="0">
              <a:buNone/>
            </a:pPr>
            <a:r>
              <a:rPr lang="en-US" sz="1200" dirty="0">
                <a:solidFill>
                  <a:srgbClr val="5F6368"/>
                </a:solidFill>
              </a:rPr>
              <a:t>The deterministic layer scores 0 wrong on scenarios designed alongside it</a:t>
            </a:r>
            <a:endParaRPr lang="en-US" sz="1200" dirty="0"/>
          </a:p>
        </p:txBody>
      </p:sp>
      <p:sp>
        <p:nvSpPr>
          <p:cNvPr id="7" name="Shape 5"/>
          <p:cNvSpPr/>
          <p:nvPr/>
        </p:nvSpPr>
        <p:spPr>
          <a:xfrm>
            <a:off x="548640" y="2075688"/>
            <a:ext cx="228600" cy="228600"/>
          </a:xfrm>
          <a:prstGeom prst="ellipse">
            <a:avLst/>
          </a:prstGeom>
          <a:solidFill>
            <a:srgbClr val="E37400"/>
          </a:solidFill>
          <a:ln/>
        </p:spPr>
      </p:sp>
      <p:sp>
        <p:nvSpPr>
          <p:cNvPr id="8" name="Text 6"/>
          <p:cNvSpPr txBox="1"/>
          <p:nvPr/>
        </p:nvSpPr>
        <p:spPr>
          <a:xfrm>
            <a:off x="1005840" y="1984248"/>
            <a:ext cx="7589520" cy="320040"/>
          </a:xfrm>
          <a:prstGeom prst="rect">
            <a:avLst/>
          </a:prstGeom>
          <a:noFill/>
          <a:ln/>
        </p:spPr>
        <p:txBody>
          <a:bodyPr wrap="square" lIns="0" tIns="0" rIns="0" bIns="0" rtlCol="0" anchor="ctr"/>
          <a:lstStyle/>
          <a:p>
            <a:pPr indent="0" marL="0">
              <a:buNone/>
            </a:pPr>
            <a:r>
              <a:rPr lang="en-US" sz="1400" b="1" dirty="0">
                <a:solidFill>
                  <a:srgbClr val="202124"/>
                </a:solidFill>
              </a:rPr>
              <a:t>Small sample, not proof</a:t>
            </a:r>
            <a:endParaRPr lang="en-US" sz="1400" dirty="0"/>
          </a:p>
        </p:txBody>
      </p:sp>
      <p:sp>
        <p:nvSpPr>
          <p:cNvPr id="9" name="Text 7"/>
          <p:cNvSpPr txBox="1"/>
          <p:nvPr/>
        </p:nvSpPr>
        <p:spPr>
          <a:xfrm>
            <a:off x="1005840" y="2286000"/>
            <a:ext cx="7589520" cy="320040"/>
          </a:xfrm>
          <a:prstGeom prst="rect">
            <a:avLst/>
          </a:prstGeom>
          <a:noFill/>
          <a:ln/>
        </p:spPr>
        <p:txBody>
          <a:bodyPr wrap="square" lIns="0" tIns="0" rIns="0" bIns="0" rtlCol="0" anchor="ctr"/>
          <a:lstStyle/>
          <a:p>
            <a:pPr indent="0" marL="0">
              <a:buNone/>
            </a:pPr>
            <a:r>
              <a:rPr lang="en-US" sz="1200" dirty="0">
                <a:solidFill>
                  <a:srgbClr val="5F6368"/>
                </a:solidFill>
              </a:rPr>
              <a:t>24/24 vs 19/24 is suggestive. Repeats are not independent</a:t>
            </a:r>
            <a:endParaRPr lang="en-US" sz="1200" dirty="0"/>
          </a:p>
        </p:txBody>
      </p:sp>
      <p:sp>
        <p:nvSpPr>
          <p:cNvPr id="10" name="Shape 8"/>
          <p:cNvSpPr/>
          <p:nvPr/>
        </p:nvSpPr>
        <p:spPr>
          <a:xfrm>
            <a:off x="548640" y="2734056"/>
            <a:ext cx="228600" cy="228600"/>
          </a:xfrm>
          <a:prstGeom prst="ellipse">
            <a:avLst/>
          </a:prstGeom>
          <a:solidFill>
            <a:srgbClr val="E37400"/>
          </a:solidFill>
          <a:ln/>
        </p:spPr>
      </p:sp>
      <p:sp>
        <p:nvSpPr>
          <p:cNvPr id="11" name="Text 9"/>
          <p:cNvSpPr txBox="1"/>
          <p:nvPr/>
        </p:nvSpPr>
        <p:spPr>
          <a:xfrm>
            <a:off x="1005840" y="2642616"/>
            <a:ext cx="7589520" cy="320040"/>
          </a:xfrm>
          <a:prstGeom prst="rect">
            <a:avLst/>
          </a:prstGeom>
          <a:noFill/>
          <a:ln/>
        </p:spPr>
        <p:txBody>
          <a:bodyPr wrap="square" lIns="0" tIns="0" rIns="0" bIns="0" rtlCol="0" anchor="ctr"/>
          <a:lstStyle/>
          <a:p>
            <a:pPr indent="0" marL="0">
              <a:buNone/>
            </a:pPr>
            <a:r>
              <a:rPr lang="en-US" sz="1400" b="1" dirty="0">
                <a:solidFill>
                  <a:srgbClr val="202124"/>
                </a:solidFill>
              </a:rPr>
              <a:t>Admissibility check never fired on real Gemini output</a:t>
            </a:r>
            <a:endParaRPr lang="en-US" sz="1400" dirty="0"/>
          </a:p>
        </p:txBody>
      </p:sp>
      <p:sp>
        <p:nvSpPr>
          <p:cNvPr id="12" name="Text 10"/>
          <p:cNvSpPr txBox="1"/>
          <p:nvPr/>
        </p:nvSpPr>
        <p:spPr>
          <a:xfrm>
            <a:off x="1005840" y="2944368"/>
            <a:ext cx="7589520" cy="320040"/>
          </a:xfrm>
          <a:prstGeom prst="rect">
            <a:avLst/>
          </a:prstGeom>
          <a:noFill/>
          <a:ln/>
        </p:spPr>
        <p:txBody>
          <a:bodyPr wrap="square" lIns="0" tIns="0" rIns="0" bIns="0" rtlCol="0" anchor="ctr"/>
          <a:lstStyle/>
          <a:p>
            <a:pPr indent="0" marL="0">
              <a:buNone/>
            </a:pPr>
            <a:r>
              <a:rPr lang="en-US" sz="1200" dirty="0">
                <a:solidFill>
                  <a:srgbClr val="5F6368"/>
                </a:solidFill>
              </a:rPr>
              <a:t>Tested only with unit tests and a fake client</a:t>
            </a:r>
            <a:endParaRPr lang="en-US" sz="1200" dirty="0"/>
          </a:p>
        </p:txBody>
      </p:sp>
      <p:sp>
        <p:nvSpPr>
          <p:cNvPr id="13" name="Shape 11"/>
          <p:cNvSpPr/>
          <p:nvPr/>
        </p:nvSpPr>
        <p:spPr>
          <a:xfrm>
            <a:off x="548640" y="3392424"/>
            <a:ext cx="228600" cy="228600"/>
          </a:xfrm>
          <a:prstGeom prst="ellipse">
            <a:avLst/>
          </a:prstGeom>
          <a:solidFill>
            <a:srgbClr val="E37400"/>
          </a:solidFill>
          <a:ln/>
        </p:spPr>
      </p:sp>
      <p:sp>
        <p:nvSpPr>
          <p:cNvPr id="14" name="Text 12"/>
          <p:cNvSpPr txBox="1"/>
          <p:nvPr/>
        </p:nvSpPr>
        <p:spPr>
          <a:xfrm>
            <a:off x="1005840" y="3300984"/>
            <a:ext cx="7589520" cy="320040"/>
          </a:xfrm>
          <a:prstGeom prst="rect">
            <a:avLst/>
          </a:prstGeom>
          <a:noFill/>
          <a:ln/>
        </p:spPr>
        <p:txBody>
          <a:bodyPr wrap="square" lIns="0" tIns="0" rIns="0" bIns="0" rtlCol="0" anchor="ctr"/>
          <a:lstStyle/>
          <a:p>
            <a:pPr indent="0" marL="0">
              <a:buNone/>
            </a:pPr>
            <a:r>
              <a:rPr lang="en-US" sz="1400" b="1" dirty="0">
                <a:solidFill>
                  <a:srgbClr val="202124"/>
                </a:solidFill>
              </a:rPr>
              <a:t>Well-prompted Gemini already avoided dangerous failures</a:t>
            </a:r>
            <a:endParaRPr lang="en-US" sz="1400" dirty="0"/>
          </a:p>
        </p:txBody>
      </p:sp>
      <p:sp>
        <p:nvSpPr>
          <p:cNvPr id="15" name="Text 13"/>
          <p:cNvSpPr txBox="1"/>
          <p:nvPr/>
        </p:nvSpPr>
        <p:spPr>
          <a:xfrm>
            <a:off x="1005840" y="3602736"/>
            <a:ext cx="7589520" cy="320040"/>
          </a:xfrm>
          <a:prstGeom prst="rect">
            <a:avLst/>
          </a:prstGeom>
          <a:noFill/>
          <a:ln/>
        </p:spPr>
        <p:txBody>
          <a:bodyPr wrap="square" lIns="0" tIns="0" rIns="0" bIns="0" rtlCol="0" anchor="ctr"/>
          <a:lstStyle/>
          <a:p>
            <a:pPr indent="0" marL="0">
              <a:buNone/>
            </a:pPr>
            <a:r>
              <a:rPr lang="en-US" sz="1200" dirty="0">
                <a:solidFill>
                  <a:srgbClr val="5F6368"/>
                </a:solidFill>
              </a:rPr>
              <a:t>We did not show that reconciliation reduces misattribution</a:t>
            </a:r>
            <a:endParaRPr lang="en-US" sz="1200" dirty="0"/>
          </a:p>
        </p:txBody>
      </p:sp>
      <p:sp>
        <p:nvSpPr>
          <p:cNvPr id="16" name="Shape 14"/>
          <p:cNvSpPr/>
          <p:nvPr/>
        </p:nvSpPr>
        <p:spPr>
          <a:xfrm>
            <a:off x="548640" y="4050792"/>
            <a:ext cx="228600" cy="228600"/>
          </a:xfrm>
          <a:prstGeom prst="ellipse">
            <a:avLst/>
          </a:prstGeom>
          <a:solidFill>
            <a:srgbClr val="E37400"/>
          </a:solidFill>
          <a:ln/>
        </p:spPr>
      </p:sp>
      <p:sp>
        <p:nvSpPr>
          <p:cNvPr id="17" name="Text 15"/>
          <p:cNvSpPr txBox="1"/>
          <p:nvPr/>
        </p:nvSpPr>
        <p:spPr>
          <a:xfrm>
            <a:off x="1005840" y="3959352"/>
            <a:ext cx="7589520" cy="320040"/>
          </a:xfrm>
          <a:prstGeom prst="rect">
            <a:avLst/>
          </a:prstGeom>
          <a:noFill/>
          <a:ln/>
        </p:spPr>
        <p:txBody>
          <a:bodyPr wrap="square" lIns="0" tIns="0" rIns="0" bIns="0" rtlCol="0" anchor="ctr"/>
          <a:lstStyle/>
          <a:p>
            <a:pPr indent="0" marL="0">
              <a:buNone/>
            </a:pPr>
            <a:r>
              <a:rPr lang="en-US" sz="1400" b="1" dirty="0">
                <a:solidFill>
                  <a:srgbClr val="202124"/>
                </a:solidFill>
              </a:rPr>
              <a:t>Synthetic data only, no real incidents measured</a:t>
            </a:r>
            <a:endParaRPr lang="en-US" sz="1400" dirty="0"/>
          </a:p>
        </p:txBody>
      </p:sp>
      <p:sp>
        <p:nvSpPr>
          <p:cNvPr id="18" name="Text 16"/>
          <p:cNvSpPr txBox="1"/>
          <p:nvPr/>
        </p:nvSpPr>
        <p:spPr>
          <a:xfrm>
            <a:off x="1005840" y="4261104"/>
            <a:ext cx="7589520" cy="320040"/>
          </a:xfrm>
          <a:prstGeom prst="rect">
            <a:avLst/>
          </a:prstGeom>
          <a:noFill/>
          <a:ln/>
        </p:spPr>
        <p:txBody>
          <a:bodyPr wrap="square" lIns="0" tIns="0" rIns="0" bIns="0" rtlCol="0" anchor="ctr"/>
          <a:lstStyle/>
          <a:p>
            <a:pPr indent="0" marL="0">
              <a:buNone/>
            </a:pPr>
            <a:r>
              <a:rPr lang="en-US" sz="1200" dirty="0">
                <a:solidFill>
                  <a:srgbClr val="5F6368"/>
                </a:solidFill>
              </a:rPr>
              <a:t>One model, no measurement of investigation time</a:t>
            </a:r>
            <a:endParaRPr lang="en-US" sz="1200" dirty="0"/>
          </a:p>
        </p:txBody>
      </p:sp>
      <p:sp>
        <p:nvSpPr>
          <p:cNvPr id="25" name="Slide Number Placeholder 0"/>
          <p:cNvSpPr>
            <a:spLocks noGrp="1"/>
          </p:cNvSpPr>
          <p:nvPr>
            <p:ph type="sldNum" sz="quarter" idx="4294967295"/>
          </p:nvPr>
        </p:nvSpPr>
        <p:spPr>
          <a:xfrm>
            <a:off x="8412480" y="470916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F636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548640"/>
            <a:ext cx="8046720" cy="731520"/>
          </a:xfrm>
          <a:prstGeom prst="rect">
            <a:avLst/>
          </a:prstGeom>
          <a:noFill/>
          <a:ln/>
        </p:spPr>
        <p:txBody>
          <a:bodyPr wrap="square" lIns="0" tIns="0" rIns="0" bIns="0" rtlCol="0" anchor="ctr"/>
          <a:lstStyle/>
          <a:p>
            <a:pPr indent="0" marL="0">
              <a:buNone/>
            </a:pPr>
            <a:r>
              <a:rPr lang="en-US" sz="3600" b="1" dirty="0">
                <a:solidFill>
                  <a:srgbClr val="FFFFFF"/>
                </a:solidFill>
              </a:rPr>
              <a:t>What We Showed</a:t>
            </a:r>
            <a:endParaRPr lang="en-US" sz="3600" dirty="0"/>
          </a:p>
        </p:txBody>
      </p:sp>
      <p:sp>
        <p:nvSpPr>
          <p:cNvPr id="3" name="Shape 1"/>
          <p:cNvSpPr/>
          <p:nvPr/>
        </p:nvSpPr>
        <p:spPr>
          <a:xfrm>
            <a:off x="548640" y="1463040"/>
            <a:ext cx="8046720" cy="457200"/>
          </a:xfrm>
          <a:prstGeom prst="roundRect">
            <a:avLst>
              <a:gd name="adj" fmla="val 16000"/>
            </a:avLst>
          </a:prstGeom>
          <a:solidFill>
            <a:srgbClr val="2D2D30"/>
          </a:solidFill>
          <a:ln/>
        </p:spPr>
      </p:sp>
      <p:sp>
        <p:nvSpPr>
          <p:cNvPr id="4" name="Text 2"/>
          <p:cNvSpPr txBox="1"/>
          <p:nvPr/>
        </p:nvSpPr>
        <p:spPr>
          <a:xfrm>
            <a:off x="822960" y="1463040"/>
            <a:ext cx="7498080" cy="457200"/>
          </a:xfrm>
          <a:prstGeom prst="rect">
            <a:avLst/>
          </a:prstGeom>
          <a:noFill/>
          <a:ln/>
        </p:spPr>
        <p:txBody>
          <a:bodyPr wrap="square" lIns="0" tIns="0" rIns="0" bIns="0" rtlCol="0" anchor="ctr"/>
          <a:lstStyle/>
          <a:p>
            <a:pPr indent="0" marL="0">
              <a:buNone/>
            </a:pPr>
            <a:r>
              <a:rPr lang="en-US" sz="1500" dirty="0">
                <a:solidFill>
                  <a:srgbClr val="A8C7FA"/>
                </a:solidFill>
              </a:rPr>
              <a:t>Temporal reconciliation eliminates missed answers (5 down to 0)</a:t>
            </a:r>
            <a:endParaRPr lang="en-US" sz="1500" dirty="0"/>
          </a:p>
        </p:txBody>
      </p:sp>
      <p:sp>
        <p:nvSpPr>
          <p:cNvPr id="5" name="Shape 3"/>
          <p:cNvSpPr/>
          <p:nvPr/>
        </p:nvSpPr>
        <p:spPr>
          <a:xfrm>
            <a:off x="548640" y="2057400"/>
            <a:ext cx="8046720" cy="457200"/>
          </a:xfrm>
          <a:prstGeom prst="roundRect">
            <a:avLst>
              <a:gd name="adj" fmla="val 16000"/>
            </a:avLst>
          </a:prstGeom>
          <a:solidFill>
            <a:srgbClr val="2D2D30"/>
          </a:solidFill>
          <a:ln/>
        </p:spPr>
      </p:sp>
      <p:sp>
        <p:nvSpPr>
          <p:cNvPr id="6" name="Text 4"/>
          <p:cNvSpPr txBox="1"/>
          <p:nvPr/>
        </p:nvSpPr>
        <p:spPr>
          <a:xfrm>
            <a:off x="822960" y="2057400"/>
            <a:ext cx="7498080" cy="457200"/>
          </a:xfrm>
          <a:prstGeom prst="rect">
            <a:avLst/>
          </a:prstGeom>
          <a:noFill/>
          <a:ln/>
        </p:spPr>
        <p:txBody>
          <a:bodyPr wrap="square" lIns="0" tIns="0" rIns="0" bIns="0" rtlCol="0" anchor="ctr"/>
          <a:lstStyle/>
          <a:p>
            <a:pPr indent="0" marL="0">
              <a:buNone/>
            </a:pPr>
            <a:r>
              <a:rPr lang="en-US" sz="1500" dirty="0">
                <a:solidFill>
                  <a:srgbClr val="CEEAD6"/>
                </a:solidFill>
              </a:rPr>
              <a:t>State-aware recovery achieves 0% invalid actions (vs 43.8% naive)</a:t>
            </a:r>
            <a:endParaRPr lang="en-US" sz="1500" dirty="0"/>
          </a:p>
        </p:txBody>
      </p:sp>
      <p:sp>
        <p:nvSpPr>
          <p:cNvPr id="7" name="Shape 5"/>
          <p:cNvSpPr/>
          <p:nvPr/>
        </p:nvSpPr>
        <p:spPr>
          <a:xfrm>
            <a:off x="548640" y="2651760"/>
            <a:ext cx="8046720" cy="457200"/>
          </a:xfrm>
          <a:prstGeom prst="roundRect">
            <a:avLst>
              <a:gd name="adj" fmla="val 16000"/>
            </a:avLst>
          </a:prstGeom>
          <a:solidFill>
            <a:srgbClr val="2D2D30"/>
          </a:solidFill>
          <a:ln/>
        </p:spPr>
      </p:sp>
      <p:sp>
        <p:nvSpPr>
          <p:cNvPr id="8" name="Text 6"/>
          <p:cNvSpPr txBox="1"/>
          <p:nvPr/>
        </p:nvSpPr>
        <p:spPr>
          <a:xfrm>
            <a:off x="822960" y="2651760"/>
            <a:ext cx="7498080" cy="457200"/>
          </a:xfrm>
          <a:prstGeom prst="rect">
            <a:avLst/>
          </a:prstGeom>
          <a:noFill/>
          <a:ln/>
        </p:spPr>
        <p:txBody>
          <a:bodyPr wrap="square" lIns="0" tIns="0" rIns="0" bIns="0" rtlCol="0" anchor="ctr"/>
          <a:lstStyle/>
          <a:p>
            <a:pPr indent="0" marL="0">
              <a:buNone/>
            </a:pPr>
            <a:r>
              <a:rPr lang="en-US" sz="1500" dirty="0">
                <a:solidFill>
                  <a:srgbClr val="A8C7FA"/>
                </a:solidFill>
              </a:rPr>
              <a:t>Evidence-first approach: Gemini investigates traceable, uncertainty-aware data</a:t>
            </a:r>
            <a:endParaRPr lang="en-US" sz="1500" dirty="0"/>
          </a:p>
        </p:txBody>
      </p:sp>
      <p:sp>
        <p:nvSpPr>
          <p:cNvPr id="9" name="Shape 7"/>
          <p:cNvSpPr/>
          <p:nvPr/>
        </p:nvSpPr>
        <p:spPr>
          <a:xfrm>
            <a:off x="548640" y="3246120"/>
            <a:ext cx="8046720" cy="457200"/>
          </a:xfrm>
          <a:prstGeom prst="roundRect">
            <a:avLst>
              <a:gd name="adj" fmla="val 16000"/>
            </a:avLst>
          </a:prstGeom>
          <a:solidFill>
            <a:srgbClr val="2D2D30"/>
          </a:solidFill>
          <a:ln/>
        </p:spPr>
      </p:sp>
      <p:sp>
        <p:nvSpPr>
          <p:cNvPr id="10" name="Text 8"/>
          <p:cNvSpPr txBox="1"/>
          <p:nvPr/>
        </p:nvSpPr>
        <p:spPr>
          <a:xfrm>
            <a:off x="822960" y="3246120"/>
            <a:ext cx="7498080" cy="457200"/>
          </a:xfrm>
          <a:prstGeom prst="rect">
            <a:avLst/>
          </a:prstGeom>
          <a:noFill/>
          <a:ln/>
        </p:spPr>
        <p:txBody>
          <a:bodyPr wrap="square" lIns="0" tIns="0" rIns="0" bIns="0" rtlCol="0" anchor="ctr"/>
          <a:lstStyle/>
          <a:p>
            <a:pPr indent="0" marL="0">
              <a:buNone/>
            </a:pPr>
            <a:r>
              <a:rPr lang="en-US" sz="1500" dirty="0">
                <a:solidFill>
                  <a:srgbClr val="CEEAD6"/>
                </a:solidFill>
              </a:rPr>
              <a:t>All claims defensible, all limitations disclosed</a:t>
            </a:r>
            <a:endParaRPr lang="en-US" sz="1500" dirty="0"/>
          </a:p>
        </p:txBody>
      </p:sp>
      <p:sp>
        <p:nvSpPr>
          <p:cNvPr id="11" name="Text 9"/>
          <p:cNvSpPr txBox="1"/>
          <p:nvPr/>
        </p:nvSpPr>
        <p:spPr>
          <a:xfrm>
            <a:off x="548640" y="3657600"/>
            <a:ext cx="8046720" cy="365760"/>
          </a:xfrm>
          <a:prstGeom prst="rect">
            <a:avLst/>
          </a:prstGeom>
          <a:noFill/>
          <a:ln/>
        </p:spPr>
        <p:txBody>
          <a:bodyPr wrap="square" lIns="0" tIns="0" rIns="0" bIns="0" rtlCol="0" anchor="ctr"/>
          <a:lstStyle/>
          <a:p>
            <a:pPr indent="0" marL="0">
              <a:buNone/>
            </a:pPr>
            <a:r>
              <a:rPr lang="en-US" sz="1400" dirty="0">
                <a:solidFill>
                  <a:srgbClr val="9AA0A6"/>
                </a:solidFill>
              </a:rPr>
              <a:t>Live demo: </a:t>
            </a:r>
            <a:pPr indent="0" marL="0">
              <a:buNone/>
            </a:pPr>
            <a:r>
              <a:rPr lang="en-US" sz="1400" b="1" dirty="0">
                <a:solidFill>
                  <a:srgbClr val="A8C7FA"/>
                </a:solidFill>
              </a:rPr>
              <a:t>metis-805035413326.asia-south1.run.app</a:t>
            </a:r>
            <a:endParaRPr lang="en-US" sz="1400" dirty="0"/>
          </a:p>
        </p:txBody>
      </p:sp>
      <p:sp>
        <p:nvSpPr>
          <p:cNvPr id="25" name="Slide Number Placeholder 0"/>
          <p:cNvSpPr>
            <a:spLocks noGrp="1"/>
          </p:cNvSpPr>
          <p:nvPr>
            <p:ph type="sldNum" sz="quarter" idx="4294967295"/>
          </p:nvPr>
        </p:nvSpPr>
        <p:spPr>
          <a:xfrm>
            <a:off x="8412480" y="475488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FFFFFF"/>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etis">
  <a:themeElements>
    <a:clrScheme name="Metis">
      <a:dk1>
        <a:srgbClr val="202124"/>
      </a:dk1>
      <a:lt1>
        <a:srgbClr val="FFFFFF"/>
      </a:lt1>
      <a:dk2>
        <a:srgbClr val="5F6368"/>
      </a:dk2>
      <a:lt2>
        <a:srgbClr val="F1F3F4"/>
      </a:lt2>
      <a:accent1>
        <a:srgbClr val="1A73E8"/>
      </a:accent1>
      <a:accent2>
        <a:srgbClr val="1E8E3E"/>
      </a:accent2>
      <a:accent3>
        <a:srgbClr val="E37400"/>
      </a:accent3>
      <a:accent4>
        <a:srgbClr val="D93025"/>
      </a:accent4>
      <a:accent5>
        <a:srgbClr val="A8C7FA"/>
      </a:accent5>
      <a:accent6>
        <a:srgbClr val="CEEAD6"/>
      </a:accent6>
      <a:hlink>
        <a:srgbClr val="1A73E8"/>
      </a:hlink>
      <a:folHlink>
        <a:srgbClr val="5F6368"/>
      </a:folHlink>
    </a:clrScheme>
    <a:fontScheme name="Meti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Metis RealityGraph</dc:title>
  <dc:subject>Google Cloud AI Builder Cup 2026</dc:subject>
  <dc:creator>Team Metis</dc:creator>
  <cp:lastModifiedBy>Team Metis</cp:lastModifiedBy>
  <cp:revision>1</cp:revision>
  <dcterms:created xsi:type="dcterms:W3CDTF">2026-10-18T14:22:26Z</dcterms:created>
  <dcterms:modified xsi:type="dcterms:W3CDTF">2026-10-18T14:22:26Z</dcterms:modified>
</cp:coreProperties>
</file>